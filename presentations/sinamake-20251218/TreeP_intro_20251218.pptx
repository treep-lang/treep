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</p:sldIdLst>
  <p:sldSz cy="6858000" cx="12192000"/>
  <p:notesSz cx="6858000" cy="12192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[Sources]</a:t>
            </a:r>
            <a:br>
              <a:rPr lang="en-US"/>
            </a:br>
            <a:r>
              <a:rPr lang="en-US"/>
              <a:t>- https://github.com/kmizu/treep (README)</a:t>
            </a:r>
            <a:br>
              <a:rPr lang="en-US"/>
            </a:br>
            <a:r>
              <a:rPr lang="en-US"/>
              <a:t>- https://zenn.dev/nextbeat/articles/819c2ace67e8ef (記事)</a:t>
            </a:r>
            <a:br>
              <a:rPr lang="en-US"/>
            </a:br>
            <a:r>
              <a:rPr lang="en-US"/>
              <a:t>- https://em-content.zobj.net/source/twitter/87/deciduous-tree_1f333.png (Twemoji tree image)</a:t>
            </a:r>
            <a:br>
              <a:rPr lang="en-US"/>
            </a:br>
            <a:r>
              <a:rPr lang="en-US"/>
              <a:t>- https://images.emojiterra.com/openmoji/v13.1/512px/1fa84.png (OpenMoji wand image)</a:t>
            </a:r>
            <a:br>
              <a:rPr lang="en-US"/>
            </a:br>
            <a:r>
              <a:rPr lang="en-US"/>
              <a:t>[/Sources]</a:t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g38670227069_0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" name="Google Shape;27;g38670227069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[Sources]</a:t>
            </a:r>
            <a:br>
              <a:rPr lang="en-US"/>
            </a:br>
            <a:r>
              <a:rPr lang="en-US"/>
              <a:t>- https://zenn.dev/nextbeat/articles/819c2ace67e8ef (3日程度で完成、概要)</a:t>
            </a:r>
            <a:br>
              <a:rPr lang="en-US"/>
            </a:br>
            <a:r>
              <a:rPr lang="en-US"/>
              <a:t>- https://emojisup.org/images/emoji/openmoji/15-1/robot.png (OpenMoji robot image)</a:t>
            </a:r>
            <a:br>
              <a:rPr lang="en-US"/>
            </a:br>
            <a:r>
              <a:rPr lang="en-US"/>
              <a:t>[/Sources]</a:t>
            </a:r>
            <a:endParaRPr/>
          </a:p>
        </p:txBody>
      </p:sp>
      <p:sp>
        <p:nvSpPr>
          <p:cNvPr id="28" name="Google Shape;28;g38670227069_0_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9" name="Google Shape;39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[Sources]</a:t>
            </a:r>
            <a:br>
              <a:rPr lang="en-US"/>
            </a:br>
            <a:r>
              <a:rPr lang="en-US"/>
              <a:t>- https://zenn.dev/nextbeat/articles/819c2ace67e8ef (3日程度で完成、概要)</a:t>
            </a:r>
            <a:br>
              <a:rPr lang="en-US"/>
            </a:br>
            <a:r>
              <a:rPr lang="en-US"/>
              <a:t>- https://emojisup.org/images/emoji/openmoji/15-1/robot.png (OpenMoji robot image)</a:t>
            </a:r>
            <a:br>
              <a:rPr lang="en-US"/>
            </a:br>
            <a:r>
              <a:rPr lang="en-US"/>
              <a:t>[/Sources]</a:t>
            </a:r>
            <a:endParaRPr/>
          </a:p>
        </p:txBody>
      </p:sp>
      <p:sp>
        <p:nvSpPr>
          <p:cNvPr id="40" name="Google Shape;40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2" name="Google Shape;52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[Sources]</a:t>
            </a:r>
            <a:br>
              <a:rPr lang="en-US"/>
            </a:br>
            <a:r>
              <a:rPr lang="en-US"/>
              <a:t>- https://zenn.dev/nextbeat/articles/819c2ace67e8ef (コンセプト: 小さいメタ構文/具象構文/マクロ/HM型推論)</a:t>
            </a:r>
            <a:br>
              <a:rPr lang="en-US"/>
            </a:br>
            <a:r>
              <a:rPr lang="en-US"/>
              <a:t>- https://github.com/kmizu/treep (README: パイプライン/マクロ/HM型推論/Row多相レコード)</a:t>
            </a:r>
            <a:br>
              <a:rPr lang="en-US"/>
            </a:br>
            <a:r>
              <a:rPr lang="en-US"/>
              <a:t>[/Sources]</a:t>
            </a:r>
            <a:endParaRPr/>
          </a:p>
        </p:txBody>
      </p:sp>
      <p:sp>
        <p:nvSpPr>
          <p:cNvPr id="53" name="Google Shape;53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4" name="Google Shape;74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[Sources]</a:t>
            </a:r>
            <a:br>
              <a:rPr lang="en-US"/>
            </a:br>
            <a:r>
              <a:rPr lang="en-US"/>
              <a:t>- https://zenn.dev/nextbeat/articles/819c2ace67e8ef (Lexer→Parser→CST→Normalize→EAST→Macro→Type→Interpreter)</a:t>
            </a:r>
            <a:br>
              <a:rPr lang="en-US"/>
            </a:br>
            <a:r>
              <a:rPr lang="en-US"/>
              <a:t>- https://github.com/kmizu/treep (README: 表層構文→EAST→マクロ→HM→実行)</a:t>
            </a:r>
            <a:br>
              <a:rPr lang="en-US"/>
            </a:br>
            <a:r>
              <a:rPr lang="en-US"/>
              <a:t>[/Sources]</a:t>
            </a:r>
            <a:endParaRPr/>
          </a:p>
        </p:txBody>
      </p:sp>
      <p:sp>
        <p:nvSpPr>
          <p:cNvPr id="75" name="Google Shape;75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9" name="Google Shape;109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[Sources]</a:t>
            </a:r>
            <a:br>
              <a:rPr lang="en-US"/>
            </a:br>
            <a:r>
              <a:rPr lang="en-US"/>
              <a:t>- https://zenn.dev/nextbeat/articles/819c2ace67e8ef (EASTのElement構造/例)</a:t>
            </a:r>
            <a:br>
              <a:rPr lang="en-US"/>
            </a:br>
            <a:r>
              <a:rPr lang="en-US"/>
              <a:t>[/Sources]</a:t>
            </a:r>
            <a:endParaRPr/>
          </a:p>
        </p:txBody>
      </p:sp>
      <p:sp>
        <p:nvSpPr>
          <p:cNvPr id="110" name="Google Shape;110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9" name="Google Shape;129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[Sources]</a:t>
            </a:r>
            <a:br>
              <a:rPr lang="en-US"/>
            </a:br>
            <a:r>
              <a:rPr lang="en-US"/>
              <a:t>- https://github.com/kmizu/treep (README: unless例/仕組み/9個のマクロ一覧)</a:t>
            </a:r>
            <a:br>
              <a:rPr lang="en-US"/>
            </a:br>
            <a:r>
              <a:rPr lang="en-US"/>
              <a:t>- https://zenn.dev/nextbeat/articles/819c2ace67e8ef (組み込みマクロの説明/衛生的マクロ)</a:t>
            </a:r>
            <a:br>
              <a:rPr lang="en-US"/>
            </a:br>
            <a:r>
              <a:rPr lang="en-US"/>
              <a:t>- https://images.emojiterra.com/openmoji/v13.1/512px/1fa84.png (OpenMoji wand image)</a:t>
            </a:r>
            <a:br>
              <a:rPr lang="en-US"/>
            </a:br>
            <a:r>
              <a:rPr lang="en-US"/>
              <a:t>[/Sources]</a:t>
            </a:r>
            <a:endParaRPr/>
          </a:p>
        </p:txBody>
      </p:sp>
      <p:sp>
        <p:nvSpPr>
          <p:cNvPr id="130" name="Google Shape;130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5" name="Google Shape;165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[Sources]</a:t>
            </a:r>
            <a:br>
              <a:rPr lang="en-US"/>
            </a:br>
            <a:r>
              <a:rPr lang="en-US"/>
              <a:t>- https://zenn.dev/nextbeat/articles/819c2ace67e8ef (ブロック引数構文の説明)</a:t>
            </a:r>
            <a:br>
              <a:rPr lang="en-US"/>
            </a:br>
            <a:r>
              <a:rPr lang="en-US"/>
              <a:t>- https://github.com/kmizu/treep (README: ブロック構文→name(args, () -&gt; { body }) 変換 / return制限)</a:t>
            </a:r>
            <a:br>
              <a:rPr lang="en-US"/>
            </a:br>
            <a:r>
              <a:rPr lang="en-US"/>
              <a:t>[/Sources]</a:t>
            </a:r>
            <a:endParaRPr/>
          </a:p>
        </p:txBody>
      </p:sp>
      <p:sp>
        <p:nvSpPr>
          <p:cNvPr id="166" name="Google Shape;166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9" name="Google Shape;189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[Sources]</a:t>
            </a:r>
            <a:br>
              <a:rPr lang="en-US"/>
            </a:br>
            <a:r>
              <a:rPr lang="en-US"/>
              <a:t>- https://github.com/kmizu/treep (README: Algorithm W/サポート型/Row多相レコード)</a:t>
            </a:r>
            <a:br>
              <a:rPr lang="en-US"/>
            </a:br>
            <a:r>
              <a:rPr lang="en-US"/>
              <a:t>- https://zenn.dev/nextbeat/articles/819c2ace67e8ef (HM型推論の説明/例)</a:t>
            </a:r>
            <a:br>
              <a:rPr lang="en-US"/>
            </a:br>
            <a:r>
              <a:rPr lang="en-US"/>
              <a:t>[/Sources]</a:t>
            </a:r>
            <a:endParaRPr/>
          </a:p>
        </p:txBody>
      </p:sp>
      <p:sp>
        <p:nvSpPr>
          <p:cNvPr id="190" name="Google Shape;190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7" name="Google Shape;207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[Sources]</a:t>
            </a:r>
            <a:br>
              <a:rPr lang="en-US"/>
            </a:br>
            <a:r>
              <a:rPr lang="en-US"/>
              <a:t>- https://github.com/kmizu/treep (README: 辞書＋イテレータ例/組み込みfor展開/プロジェクト構成)</a:t>
            </a:r>
            <a:br>
              <a:rPr lang="en-US"/>
            </a:br>
            <a:r>
              <a:rPr lang="en-US"/>
              <a:t>- https://zenn.dev/nextbeat/articles/819c2ace67e8ef (実装された主要機能/列多相/イテレータ/拡張メソッド 等)</a:t>
            </a:r>
            <a:br>
              <a:rPr lang="en-US"/>
            </a:br>
            <a:r>
              <a:rPr lang="en-US"/>
              <a:t>[/Sources]</a:t>
            </a:r>
            <a:endParaRPr/>
          </a:p>
        </p:txBody>
      </p:sp>
      <p:sp>
        <p:nvSpPr>
          <p:cNvPr id="208" name="Google Shape;208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4" name="Google Shape;224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[Sources]</a:t>
            </a:r>
            <a:br>
              <a:rPr lang="en-US"/>
            </a:br>
            <a:r>
              <a:rPr lang="en-US"/>
              <a:t>- https://zenn.dev/nextbeat/articles/819c2ace67e8ef (AIとペアプロでの開発/学び/3日程度)</a:t>
            </a:r>
            <a:br>
              <a:rPr lang="en-US"/>
            </a:br>
            <a:r>
              <a:rPr lang="en-US"/>
              <a:t>- https://github.com/kmizu/treep (README)</a:t>
            </a:r>
            <a:br>
              <a:rPr lang="en-US"/>
            </a:br>
            <a:r>
              <a:rPr lang="en-US"/>
              <a:t>[/Sources]</a:t>
            </a:r>
            <a:endParaRPr/>
          </a:p>
        </p:txBody>
      </p:sp>
      <p:sp>
        <p:nvSpPr>
          <p:cNvPr id="225" name="Google Shape;225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hyperlink" Target="https://github.com/kmizu" TargetMode="External"/><Relationship Id="rId4" Type="http://schemas.openxmlformats.org/officeDocument/2006/relationships/hyperlink" Target="https://x.com/kmizu" TargetMode="External"/><Relationship Id="rId5" Type="http://schemas.openxmlformats.org/officeDocument/2006/relationships/image" Target="../media/image6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/>
        </p:nvSpPr>
        <p:spPr>
          <a:xfrm>
            <a:off x="731520" y="1097280"/>
            <a:ext cx="676656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6000"/>
              <a:buFont typeface="Meiryo"/>
              <a:buNone/>
            </a:pPr>
            <a:r>
              <a:rPr b="1" i="0" lang="en-US" sz="6000" u="none" cap="none" strike="noStrike">
                <a:solidFill>
                  <a:srgbClr val="111827"/>
                </a:solidFill>
                <a:latin typeface="Meiryo"/>
                <a:ea typeface="Meiryo"/>
                <a:cs typeface="Meiryo"/>
                <a:sym typeface="Meiryo"/>
              </a:rPr>
              <a:t>TreeP</a:t>
            </a:r>
            <a:endParaRPr b="0" i="0" sz="6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" name="Google Shape;17;p3"/>
          <p:cNvSpPr/>
          <p:nvPr/>
        </p:nvSpPr>
        <p:spPr>
          <a:xfrm>
            <a:off x="777240" y="2057400"/>
            <a:ext cx="79552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2400"/>
              <a:buFont typeface="Meiryo"/>
              <a:buNone/>
            </a:pPr>
            <a:r>
              <a:rPr b="0" i="0" lang="en-US" sz="2400" u="none" cap="none" strike="noStrike">
                <a:solidFill>
                  <a:srgbClr val="4B5563"/>
                </a:solidFill>
                <a:latin typeface="Meiryo"/>
                <a:ea typeface="Meiryo"/>
                <a:cs typeface="Meiryo"/>
                <a:sym typeface="Meiryo"/>
              </a:rPr>
              <a:t>Tree Processor 〜 “Lispの心” × “MLの型” × “見た目は普通” 〜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mnt/data/tree.png" id="18" name="Google Shape;18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052560" y="777240"/>
            <a:ext cx="2651761" cy="265176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/mnt/data/wand.png" id="19" name="Google Shape;19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652760" y="3611880"/>
            <a:ext cx="1143000" cy="1143000"/>
          </a:xfrm>
          <a:prstGeom prst="rect">
            <a:avLst/>
          </a:prstGeom>
          <a:noFill/>
          <a:ln>
            <a:noFill/>
          </a:ln>
        </p:spPr>
      </p:pic>
      <p:sp>
        <p:nvSpPr>
          <p:cNvPr id="20" name="Google Shape;20;p3"/>
          <p:cNvSpPr/>
          <p:nvPr/>
        </p:nvSpPr>
        <p:spPr>
          <a:xfrm>
            <a:off x="731520" y="2971800"/>
            <a:ext cx="7680960" cy="1097280"/>
          </a:xfrm>
          <a:prstGeom prst="roundRect">
            <a:avLst>
              <a:gd fmla="val 16667" name="adj"/>
            </a:avLst>
          </a:prstGeom>
          <a:solidFill>
            <a:srgbClr val="E8F5E9"/>
          </a:solidFill>
          <a:ln cap="flat" cmpd="sng" w="12700">
            <a:solidFill>
              <a:srgbClr val="C8E6C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" name="Google Shape;21;p3"/>
          <p:cNvSpPr/>
          <p:nvPr/>
        </p:nvSpPr>
        <p:spPr>
          <a:xfrm>
            <a:off x="1005840" y="3063240"/>
            <a:ext cx="713232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2600"/>
              <a:buFont typeface="Meiryo"/>
              <a:buNone/>
            </a:pPr>
            <a:r>
              <a:rPr b="1" i="0" lang="en-US" sz="2600" u="none" cap="none" strike="noStrike">
                <a:solidFill>
                  <a:srgbClr val="111827"/>
                </a:solidFill>
                <a:latin typeface="Meiryo"/>
                <a:ea typeface="Meiryo"/>
                <a:cs typeface="Meiryo"/>
                <a:sym typeface="Meiryo"/>
              </a:rPr>
              <a:t>“マクロは欲しい。でもS式はちょっと…”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2600"/>
              <a:buFont typeface="Meiryo"/>
              <a:buNone/>
            </a:pPr>
            <a:r>
              <a:rPr b="1" i="0" lang="en-US" sz="2600" u="none" cap="none" strike="noStrike">
                <a:solidFill>
                  <a:srgbClr val="111827"/>
                </a:solidFill>
                <a:latin typeface="Meiryo"/>
                <a:ea typeface="Meiryo"/>
                <a:cs typeface="Meiryo"/>
                <a:sym typeface="Meiryo"/>
              </a:rPr>
              <a:t>そんな欲張りに刺さるミニ言語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2" name="Google Shape;22;p3"/>
          <p:cNvCxnSpPr/>
          <p:nvPr/>
        </p:nvCxnSpPr>
        <p:spPr>
          <a:xfrm>
            <a:off x="548640" y="6355080"/>
            <a:ext cx="11094415" cy="0"/>
          </a:xfrm>
          <a:prstGeom prst="straightConnector1">
            <a:avLst/>
          </a:prstGeom>
          <a:noFill/>
          <a:ln cap="flat" cmpd="sng" w="12700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3" name="Google Shape;23;p3"/>
          <p:cNvSpPr/>
          <p:nvPr/>
        </p:nvSpPr>
        <p:spPr>
          <a:xfrm>
            <a:off x="548640" y="6446520"/>
            <a:ext cx="11094415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1400"/>
              <a:buFont typeface="Meiryo"/>
              <a:buNone/>
            </a:pPr>
            <a:r>
              <a:rPr b="0" i="0" lang="en-US" sz="1400" u="none" cap="none" strike="noStrike">
                <a:solidFill>
                  <a:srgbClr val="4B5563"/>
                </a:solidFill>
                <a:latin typeface="Meiryo"/>
                <a:ea typeface="Meiryo"/>
                <a:cs typeface="Meiryo"/>
                <a:sym typeface="Meiryo"/>
              </a:rPr>
              <a:t>TreeP / 10 slides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" name="Google Shape;24;p3"/>
          <p:cNvSpPr/>
          <p:nvPr/>
        </p:nvSpPr>
        <p:spPr>
          <a:xfrm>
            <a:off x="777250" y="4318925"/>
            <a:ext cx="7506300" cy="130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2600"/>
              <a:buFont typeface="Meiryo"/>
              <a:buNone/>
            </a:pPr>
            <a:r>
              <a:rPr b="1" lang="en-US" sz="2600">
                <a:solidFill>
                  <a:srgbClr val="111827"/>
                </a:solidFill>
                <a:latin typeface="Meiryo"/>
                <a:ea typeface="Meiryo"/>
                <a:cs typeface="Meiryo"/>
                <a:sym typeface="Meiryo"/>
              </a:rPr>
              <a:t>株式会社ネクストビート</a:t>
            </a:r>
            <a:endParaRPr b="1" sz="2600">
              <a:solidFill>
                <a:srgbClr val="111827"/>
              </a:solidFill>
              <a:latin typeface="Meiryo"/>
              <a:ea typeface="Meiryo"/>
              <a:cs typeface="Meiryo"/>
              <a:sym typeface="Meiryo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2600"/>
              <a:buFont typeface="Meiryo"/>
              <a:buNone/>
            </a:pPr>
            <a:r>
              <a:rPr b="1" lang="en-US" sz="2600">
                <a:solidFill>
                  <a:srgbClr val="111827"/>
                </a:solidFill>
                <a:latin typeface="Meiryo"/>
                <a:ea typeface="Meiryo"/>
                <a:cs typeface="Meiryo"/>
                <a:sym typeface="Meiryo"/>
              </a:rPr>
              <a:t>テクノロジーエヴァンジェリスト</a:t>
            </a:r>
            <a:endParaRPr b="1" sz="2600">
              <a:solidFill>
                <a:srgbClr val="111827"/>
              </a:solidFill>
              <a:latin typeface="Meiryo"/>
              <a:ea typeface="Meiryo"/>
              <a:cs typeface="Meiryo"/>
              <a:sym typeface="Meiryo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2600"/>
              <a:buFont typeface="Meiryo"/>
              <a:buNone/>
            </a:pPr>
            <a:r>
              <a:rPr b="1" lang="en-US" sz="2600">
                <a:solidFill>
                  <a:srgbClr val="111827"/>
                </a:solidFill>
                <a:latin typeface="Meiryo"/>
                <a:ea typeface="Meiryo"/>
                <a:cs typeface="Meiryo"/>
                <a:sym typeface="Meiryo"/>
              </a:rPr>
              <a:t>水島 宏太</a:t>
            </a:r>
            <a:endParaRPr b="1" sz="2600">
              <a:solidFill>
                <a:srgbClr val="111827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4"/>
          <p:cNvSpPr/>
          <p:nvPr/>
        </p:nvSpPr>
        <p:spPr>
          <a:xfrm>
            <a:off x="0" y="0"/>
            <a:ext cx="12191700" cy="548700"/>
          </a:xfrm>
          <a:prstGeom prst="rect">
            <a:avLst/>
          </a:prstGeom>
          <a:solidFill>
            <a:srgbClr val="0D47A1"/>
          </a:solidFill>
          <a:ln cap="flat" cmpd="sng" w="12700">
            <a:solidFill>
              <a:srgbClr val="0D47A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" name="Google Shape;31;p4"/>
          <p:cNvSpPr/>
          <p:nvPr/>
        </p:nvSpPr>
        <p:spPr>
          <a:xfrm>
            <a:off x="548640" y="109728"/>
            <a:ext cx="103629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Meiryo"/>
              <a:buNone/>
            </a:pPr>
            <a:r>
              <a:rPr b="1" lang="en-US" sz="2400">
                <a:solidFill>
                  <a:srgbClr val="FFFFFF"/>
                </a:solidFill>
                <a:latin typeface="Meiryo"/>
                <a:ea typeface="Meiryo"/>
                <a:cs typeface="Meiryo"/>
                <a:sym typeface="Meiryo"/>
              </a:rPr>
              <a:t>自己紹介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" name="Google Shape;32;p4"/>
          <p:cNvSpPr/>
          <p:nvPr/>
        </p:nvSpPr>
        <p:spPr>
          <a:xfrm>
            <a:off x="731520" y="914400"/>
            <a:ext cx="93270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2800"/>
              <a:buFont typeface="Meiryo"/>
              <a:buNone/>
            </a:pPr>
            <a:r>
              <a:rPr b="1" lang="en-US" sz="2800">
                <a:solidFill>
                  <a:srgbClr val="111827"/>
                </a:solidFill>
                <a:latin typeface="Meiryo"/>
                <a:ea typeface="Meiryo"/>
                <a:cs typeface="Meiryo"/>
                <a:sym typeface="Meiryo"/>
              </a:rPr>
              <a:t>水島 宏太 / kmizu（みずしま こうた / けーみず）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" name="Google Shape;33;p4"/>
          <p:cNvSpPr/>
          <p:nvPr/>
        </p:nvSpPr>
        <p:spPr>
          <a:xfrm>
            <a:off x="914400" y="1828800"/>
            <a:ext cx="9052500" cy="3657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406400" lvl="0" marL="457200" marR="0" rtl="0" algn="l">
              <a:spcBef>
                <a:spcPts val="0"/>
              </a:spcBef>
              <a:spcAft>
                <a:spcPts val="0"/>
              </a:spcAft>
              <a:buSzPts val="2800"/>
              <a:buFont typeface="Meiryo"/>
              <a:buChar char="●"/>
            </a:pPr>
            <a:r>
              <a:rPr lang="en-US" sz="2800">
                <a:solidFill>
                  <a:srgbClr val="111827"/>
                </a:solidFill>
                <a:latin typeface="Meiryo"/>
                <a:ea typeface="Meiryo"/>
                <a:cs typeface="Meiryo"/>
                <a:sym typeface="Meiryo"/>
              </a:rPr>
              <a:t>株式会社ネクストビート所属</a:t>
            </a:r>
            <a:endParaRPr sz="2800">
              <a:solidFill>
                <a:srgbClr val="111827"/>
              </a:solidFill>
              <a:latin typeface="Meiryo"/>
              <a:ea typeface="Meiryo"/>
              <a:cs typeface="Meiryo"/>
              <a:sym typeface="Meiryo"/>
            </a:endParaRPr>
          </a:p>
          <a:p>
            <a:pPr indent="-406400" lvl="0" marL="457200" marR="0" rtl="0" algn="l">
              <a:spcBef>
                <a:spcPts val="0"/>
              </a:spcBef>
              <a:spcAft>
                <a:spcPts val="0"/>
              </a:spcAft>
              <a:buSzPts val="2800"/>
              <a:buFont typeface="Meiryo"/>
              <a:buChar char="●"/>
            </a:pPr>
            <a:r>
              <a:rPr lang="en-US" sz="2800">
                <a:solidFill>
                  <a:srgbClr val="111827"/>
                </a:solidFill>
                <a:latin typeface="Meiryo"/>
                <a:ea typeface="Meiryo"/>
                <a:cs typeface="Meiryo"/>
                <a:sym typeface="Meiryo"/>
              </a:rPr>
              <a:t>GitHub: </a:t>
            </a:r>
            <a:r>
              <a:rPr lang="en-US" sz="2800" u="sng">
                <a:solidFill>
                  <a:schemeClr val="hlink"/>
                </a:solidFill>
                <a:latin typeface="Meiryo"/>
                <a:ea typeface="Meiryo"/>
                <a:cs typeface="Meiryo"/>
                <a:sym typeface="Meiryo"/>
                <a:hlinkClick r:id="rId3"/>
              </a:rPr>
              <a:t>https://github.com/kmizu</a:t>
            </a:r>
            <a:endParaRPr sz="2800">
              <a:solidFill>
                <a:srgbClr val="111827"/>
              </a:solidFill>
              <a:latin typeface="Meiryo"/>
              <a:ea typeface="Meiryo"/>
              <a:cs typeface="Meiryo"/>
              <a:sym typeface="Meiryo"/>
            </a:endParaRPr>
          </a:p>
          <a:p>
            <a:pPr indent="-406400" lvl="0" marL="457200" marR="0" rtl="0" algn="l">
              <a:spcBef>
                <a:spcPts val="0"/>
              </a:spcBef>
              <a:spcAft>
                <a:spcPts val="0"/>
              </a:spcAft>
              <a:buSzPts val="2800"/>
              <a:buFont typeface="Meiryo"/>
              <a:buChar char="●"/>
            </a:pPr>
            <a:r>
              <a:rPr lang="en-US" sz="2800">
                <a:solidFill>
                  <a:srgbClr val="111827"/>
                </a:solidFill>
                <a:latin typeface="Meiryo"/>
                <a:ea typeface="Meiryo"/>
                <a:cs typeface="Meiryo"/>
                <a:sym typeface="Meiryo"/>
              </a:rPr>
              <a:t>X: </a:t>
            </a:r>
            <a:r>
              <a:rPr lang="en-US" sz="2800" u="sng">
                <a:solidFill>
                  <a:schemeClr val="hlink"/>
                </a:solidFill>
                <a:latin typeface="Meiryo"/>
                <a:ea typeface="Meiryo"/>
                <a:cs typeface="Meiryo"/>
                <a:sym typeface="Meiryo"/>
                <a:hlinkClick r:id="rId4"/>
              </a:rPr>
              <a:t>https://x.com/kmizu</a:t>
            </a:r>
            <a:endParaRPr sz="2800">
              <a:solidFill>
                <a:srgbClr val="111827"/>
              </a:solidFill>
              <a:latin typeface="Meiryo"/>
              <a:ea typeface="Meiryo"/>
              <a:cs typeface="Meiryo"/>
              <a:sym typeface="Meiryo"/>
            </a:endParaRPr>
          </a:p>
          <a:p>
            <a:pPr indent="-406400" lvl="0" marL="457200" marR="0" rtl="0" algn="l">
              <a:spcBef>
                <a:spcPts val="0"/>
              </a:spcBef>
              <a:spcAft>
                <a:spcPts val="0"/>
              </a:spcAft>
              <a:buSzPts val="2800"/>
              <a:buFont typeface="Meiryo"/>
              <a:buChar char="●"/>
            </a:pPr>
            <a:r>
              <a:rPr lang="en-US" sz="2800">
                <a:solidFill>
                  <a:srgbClr val="111827"/>
                </a:solidFill>
                <a:latin typeface="Meiryo"/>
                <a:ea typeface="Meiryo"/>
                <a:cs typeface="Meiryo"/>
                <a:sym typeface="Meiryo"/>
              </a:rPr>
              <a:t>趣味:</a:t>
            </a:r>
            <a:endParaRPr sz="2800">
              <a:solidFill>
                <a:srgbClr val="111827"/>
              </a:solidFill>
              <a:latin typeface="Meiryo"/>
              <a:ea typeface="Meiryo"/>
              <a:cs typeface="Meiryo"/>
              <a:sym typeface="Meiryo"/>
            </a:endParaRPr>
          </a:p>
          <a:p>
            <a:pPr indent="-406400" lvl="1" marL="91440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2800"/>
              <a:buFont typeface="Meiryo"/>
              <a:buChar char="○"/>
            </a:pPr>
            <a:r>
              <a:rPr lang="en-US" sz="2800">
                <a:solidFill>
                  <a:srgbClr val="111827"/>
                </a:solidFill>
                <a:latin typeface="Meiryo"/>
                <a:ea typeface="Meiryo"/>
                <a:cs typeface="Meiryo"/>
                <a:sym typeface="Meiryo"/>
              </a:rPr>
              <a:t>プログラミング言語作り ←今日はこれの話</a:t>
            </a:r>
            <a:endParaRPr sz="2800">
              <a:solidFill>
                <a:srgbClr val="111827"/>
              </a:solidFill>
              <a:latin typeface="Meiryo"/>
              <a:ea typeface="Meiryo"/>
              <a:cs typeface="Meiryo"/>
              <a:sym typeface="Meiryo"/>
            </a:endParaRPr>
          </a:p>
          <a:p>
            <a:pPr indent="-406400" lvl="1" marL="91440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2800"/>
              <a:buFont typeface="Meiryo"/>
              <a:buChar char="○"/>
            </a:pPr>
            <a:r>
              <a:rPr lang="en-US" sz="2800">
                <a:solidFill>
                  <a:srgbClr val="111827"/>
                </a:solidFill>
                <a:latin typeface="Meiryo"/>
                <a:ea typeface="Meiryo"/>
                <a:cs typeface="Meiryo"/>
                <a:sym typeface="Meiryo"/>
              </a:rPr>
              <a:t>小説書き ←AIによる文体模倣とか</a:t>
            </a:r>
            <a:endParaRPr sz="2800">
              <a:solidFill>
                <a:srgbClr val="111827"/>
              </a:solidFill>
              <a:latin typeface="Meiryo"/>
              <a:ea typeface="Meiryo"/>
              <a:cs typeface="Meiryo"/>
              <a:sym typeface="Meiryo"/>
            </a:endParaRPr>
          </a:p>
          <a:p>
            <a:pPr indent="-406400" lvl="1" marL="91440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2800"/>
              <a:buFont typeface="Meiryo"/>
              <a:buChar char="○"/>
            </a:pPr>
            <a:r>
              <a:rPr lang="en-US" sz="2800">
                <a:solidFill>
                  <a:srgbClr val="111827"/>
                </a:solidFill>
                <a:latin typeface="Meiryo"/>
                <a:ea typeface="Meiryo"/>
                <a:cs typeface="Meiryo"/>
                <a:sym typeface="Meiryo"/>
              </a:rPr>
              <a:t>ゲーム（RPG、ノベルゲー中心）</a:t>
            </a:r>
            <a:endParaRPr sz="2800">
              <a:solidFill>
                <a:srgbClr val="111827"/>
              </a:solidFill>
              <a:latin typeface="Meiryo"/>
              <a:ea typeface="Meiryo"/>
              <a:cs typeface="Meiryo"/>
              <a:sym typeface="Meiryo"/>
            </a:endParaRPr>
          </a:p>
          <a:p>
            <a:pPr indent="-406400" lvl="1" marL="91440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2800"/>
              <a:buFont typeface="Meiryo"/>
              <a:buChar char="○"/>
            </a:pPr>
            <a:r>
              <a:rPr lang="en-US" sz="2800">
                <a:solidFill>
                  <a:srgbClr val="111827"/>
                </a:solidFill>
                <a:latin typeface="Meiryo"/>
                <a:ea typeface="Meiryo"/>
                <a:cs typeface="Meiryo"/>
                <a:sym typeface="Meiryo"/>
              </a:rPr>
              <a:t>ライトノベル（最近はあまり読んでないかも）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4" name="Google Shape;34;p4"/>
          <p:cNvCxnSpPr/>
          <p:nvPr/>
        </p:nvCxnSpPr>
        <p:spPr>
          <a:xfrm>
            <a:off x="548640" y="6355080"/>
            <a:ext cx="11094300" cy="0"/>
          </a:xfrm>
          <a:prstGeom prst="straightConnector1">
            <a:avLst/>
          </a:prstGeom>
          <a:noFill/>
          <a:ln cap="flat" cmpd="sng" w="12700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5" name="Google Shape;35;p4"/>
          <p:cNvSpPr/>
          <p:nvPr/>
        </p:nvSpPr>
        <p:spPr>
          <a:xfrm>
            <a:off x="548640" y="6446520"/>
            <a:ext cx="110943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1400"/>
              <a:buFont typeface="Meiryo"/>
              <a:buNone/>
            </a:pPr>
            <a:r>
              <a:rPr b="0" i="0" lang="en-US" sz="1400" u="none" cap="none" strike="noStrike">
                <a:solidFill>
                  <a:srgbClr val="4B5563"/>
                </a:solidFill>
                <a:latin typeface="Meiryo"/>
                <a:ea typeface="Meiryo"/>
                <a:cs typeface="Meiryo"/>
                <a:sym typeface="Meiryo"/>
              </a:rPr>
              <a:t>TreeP / 10 slides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6" name="Google Shape;36;p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0261555" y="1463100"/>
            <a:ext cx="1127700" cy="1127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5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0D47A1"/>
          </a:solidFill>
          <a:ln cap="flat" cmpd="sng" w="12700">
            <a:solidFill>
              <a:srgbClr val="0D47A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" name="Google Shape;43;p5"/>
          <p:cNvSpPr/>
          <p:nvPr/>
        </p:nvSpPr>
        <p:spPr>
          <a:xfrm>
            <a:off x="548640" y="109728"/>
            <a:ext cx="10362895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Meiryo"/>
              <a:buNone/>
            </a:pPr>
            <a:r>
              <a:rPr b="1" i="0" lang="en-US" sz="2400" u="none" cap="none" strike="noStrike">
                <a:solidFill>
                  <a:srgbClr val="FFFFFF"/>
                </a:solidFill>
                <a:latin typeface="Meiryo"/>
                <a:ea typeface="Meiryo"/>
                <a:cs typeface="Meiryo"/>
                <a:sym typeface="Meiryo"/>
              </a:rPr>
              <a:t>今日のゴール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" name="Google Shape;44;p5"/>
          <p:cNvSpPr/>
          <p:nvPr/>
        </p:nvSpPr>
        <p:spPr>
          <a:xfrm>
            <a:off x="731520" y="914400"/>
            <a:ext cx="93268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2800"/>
              <a:buFont typeface="Meiryo"/>
              <a:buNone/>
            </a:pPr>
            <a:r>
              <a:rPr b="1" i="0" lang="en-US" sz="2800" u="none" cap="none" strike="noStrike">
                <a:solidFill>
                  <a:srgbClr val="111827"/>
                </a:solidFill>
                <a:latin typeface="Meiryo"/>
                <a:ea typeface="Meiryo"/>
                <a:cs typeface="Meiryo"/>
                <a:sym typeface="Meiryo"/>
              </a:rPr>
              <a:t>TreePの「何がウリで、どう動いて、何が面白いか」を10分で掴む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" name="Google Shape;45;p5"/>
          <p:cNvSpPr/>
          <p:nvPr/>
        </p:nvSpPr>
        <p:spPr>
          <a:xfrm>
            <a:off x="914400" y="1828800"/>
            <a:ext cx="9052560" cy="3657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04800" lvl="0" marL="30480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2800"/>
              <a:buFont typeface="Meiryo"/>
              <a:buChar char="•"/>
            </a:pPr>
            <a:r>
              <a:rPr b="0" i="0" lang="en-US" sz="2800" u="none" cap="none" strike="noStrike">
                <a:solidFill>
                  <a:srgbClr val="111827"/>
                </a:solidFill>
                <a:latin typeface="Meiryo"/>
                <a:ea typeface="Meiryo"/>
                <a:cs typeface="Meiryo"/>
                <a:sym typeface="Meiryo"/>
              </a:rPr>
              <a:t>TreePのコンセプト（欲張りセット）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04800" lvl="0" marL="30480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2800"/>
              <a:buFont typeface="Meiryo"/>
              <a:buChar char="•"/>
            </a:pPr>
            <a:r>
              <a:rPr b="0" i="0" lang="en-US" sz="2800" u="none" cap="none" strike="noStrike">
                <a:solidFill>
                  <a:srgbClr val="111827"/>
                </a:solidFill>
                <a:latin typeface="Meiryo"/>
                <a:ea typeface="Meiryo"/>
                <a:cs typeface="Meiryo"/>
                <a:sym typeface="Meiryo"/>
              </a:rPr>
              <a:t>処理系パイプライン（学習しやすい王道）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04800" lvl="0" marL="30480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2800"/>
              <a:buFont typeface="Meiryo"/>
              <a:buChar char="•"/>
            </a:pPr>
            <a:r>
              <a:rPr b="0" i="0" lang="en-US" sz="2800" u="none" cap="none" strike="noStrike">
                <a:solidFill>
                  <a:srgbClr val="111827"/>
                </a:solidFill>
                <a:latin typeface="Meiryo"/>
                <a:ea typeface="Meiryo"/>
                <a:cs typeface="Meiryo"/>
                <a:sym typeface="Meiryo"/>
              </a:rPr>
              <a:t>EASTとマクロ（型安全＆衛生的）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04800" lvl="0" marL="30480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2800"/>
              <a:buFont typeface="Meiryo"/>
              <a:buChar char="•"/>
            </a:pPr>
            <a:r>
              <a:rPr b="0" i="0" lang="en-US" sz="2800" u="none" cap="none" strike="noStrike">
                <a:solidFill>
                  <a:srgbClr val="111827"/>
                </a:solidFill>
                <a:latin typeface="Meiryo"/>
                <a:ea typeface="Meiryo"/>
                <a:cs typeface="Meiryo"/>
                <a:sym typeface="Meiryo"/>
              </a:rPr>
              <a:t>型推論・レコード・イテレータ（実用に寄せた機能）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mnt/data/robot.png" id="46" name="Google Shape;46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241280" y="1234440"/>
            <a:ext cx="1600200" cy="1600200"/>
          </a:xfrm>
          <a:prstGeom prst="rect">
            <a:avLst/>
          </a:prstGeom>
          <a:noFill/>
          <a:ln>
            <a:noFill/>
          </a:ln>
        </p:spPr>
      </p:pic>
      <p:sp>
        <p:nvSpPr>
          <p:cNvPr id="47" name="Google Shape;47;p5"/>
          <p:cNvSpPr/>
          <p:nvPr/>
        </p:nvSpPr>
        <p:spPr>
          <a:xfrm>
            <a:off x="914400" y="5623560"/>
            <a:ext cx="106070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2000"/>
              <a:buFont typeface="Meiryo"/>
              <a:buNone/>
            </a:pPr>
            <a:r>
              <a:rPr b="0" i="1" lang="en-US" sz="2000" u="none" cap="none" strike="noStrike">
                <a:solidFill>
                  <a:srgbClr val="4B5563"/>
                </a:solidFill>
                <a:latin typeface="Meiryo"/>
                <a:ea typeface="Meiryo"/>
                <a:cs typeface="Meiryo"/>
                <a:sym typeface="Meiryo"/>
              </a:rPr>
              <a:t>※この言語、AIとペアプロで作った（3日くらい）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8" name="Google Shape;48;p5"/>
          <p:cNvCxnSpPr/>
          <p:nvPr/>
        </p:nvCxnSpPr>
        <p:spPr>
          <a:xfrm>
            <a:off x="548640" y="6355080"/>
            <a:ext cx="11094415" cy="0"/>
          </a:xfrm>
          <a:prstGeom prst="straightConnector1">
            <a:avLst/>
          </a:prstGeom>
          <a:noFill/>
          <a:ln cap="flat" cmpd="sng" w="12700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9" name="Google Shape;49;p5"/>
          <p:cNvSpPr/>
          <p:nvPr/>
        </p:nvSpPr>
        <p:spPr>
          <a:xfrm>
            <a:off x="548640" y="6446520"/>
            <a:ext cx="11094415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1400"/>
              <a:buFont typeface="Meiryo"/>
              <a:buNone/>
            </a:pPr>
            <a:r>
              <a:rPr b="0" i="0" lang="en-US" sz="1400" u="none" cap="none" strike="noStrike">
                <a:solidFill>
                  <a:srgbClr val="4B5563"/>
                </a:solidFill>
                <a:latin typeface="Meiryo"/>
                <a:ea typeface="Meiryo"/>
                <a:cs typeface="Meiryo"/>
                <a:sym typeface="Meiryo"/>
              </a:rPr>
              <a:t>TreeP / 10 slides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6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0D47A1"/>
          </a:solidFill>
          <a:ln cap="flat" cmpd="sng" w="12700">
            <a:solidFill>
              <a:srgbClr val="0D47A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" name="Google Shape;56;p6"/>
          <p:cNvSpPr/>
          <p:nvPr/>
        </p:nvSpPr>
        <p:spPr>
          <a:xfrm>
            <a:off x="548640" y="109728"/>
            <a:ext cx="10362895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Meiryo"/>
              <a:buNone/>
            </a:pPr>
            <a:r>
              <a:rPr b="1" i="0" lang="en-US" sz="2400" u="none" cap="none" strike="noStrike">
                <a:solidFill>
                  <a:srgbClr val="FFFFFF"/>
                </a:solidFill>
                <a:latin typeface="Meiryo"/>
                <a:ea typeface="Meiryo"/>
                <a:cs typeface="Meiryo"/>
                <a:sym typeface="Meiryo"/>
              </a:rPr>
              <a:t>TreePって何？（一言で）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" name="Google Shape;57;p6"/>
          <p:cNvSpPr/>
          <p:nvPr/>
        </p:nvSpPr>
        <p:spPr>
          <a:xfrm>
            <a:off x="822960" y="914400"/>
            <a:ext cx="1097280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3800"/>
              <a:buFont typeface="Meiryo"/>
              <a:buNone/>
            </a:pPr>
            <a:r>
              <a:rPr b="1" i="0" lang="en-US" sz="3800" u="none" cap="none" strike="noStrike">
                <a:solidFill>
                  <a:srgbClr val="111827"/>
                </a:solidFill>
                <a:latin typeface="Meiryo"/>
                <a:ea typeface="Meiryo"/>
                <a:cs typeface="Meiryo"/>
                <a:sym typeface="Meiryo"/>
              </a:rPr>
              <a:t>「普通に書ける」関数型言語に、</a:t>
            </a:r>
            <a:endParaRPr b="0" i="0" sz="3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3800"/>
              <a:buFont typeface="Meiryo"/>
              <a:buNone/>
            </a:pPr>
            <a:r>
              <a:rPr b="1" i="0" lang="en-US" sz="3800" u="none" cap="none" strike="noStrike">
                <a:solidFill>
                  <a:srgbClr val="111827"/>
                </a:solidFill>
                <a:latin typeface="Meiryo"/>
                <a:ea typeface="Meiryo"/>
                <a:cs typeface="Meiryo"/>
                <a:sym typeface="Meiryo"/>
              </a:rPr>
              <a:t>ASTマクロを“簡単に”足したやつ</a:t>
            </a:r>
            <a:endParaRPr b="0" i="0" sz="3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6"/>
          <p:cNvSpPr/>
          <p:nvPr/>
        </p:nvSpPr>
        <p:spPr>
          <a:xfrm>
            <a:off x="822960" y="2377440"/>
            <a:ext cx="5135728" cy="1417320"/>
          </a:xfrm>
          <a:prstGeom prst="roundRect">
            <a:avLst>
              <a:gd fmla="val 16667" name="adj"/>
            </a:avLst>
          </a:prstGeom>
          <a:solidFill>
            <a:srgbClr val="E8F5E9"/>
          </a:solidFill>
          <a:ln cap="flat" cmpd="sng" w="12700">
            <a:solidFill>
              <a:srgbClr val="C8E6C9"/>
            </a:solidFill>
            <a:prstDash val="solid"/>
            <a:round/>
            <a:headEnd len="sm" w="sm" type="none"/>
            <a:tailEnd len="sm" w="sm" type="none"/>
          </a:ln>
          <a:effectLst>
            <a:outerShdw blurRad="38100" rotWithShape="0" algn="bl" dir="2700000" dist="12700">
              <a:srgbClr val="000000">
                <a:alpha val="980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" name="Google Shape;59;p6"/>
          <p:cNvSpPr/>
          <p:nvPr/>
        </p:nvSpPr>
        <p:spPr>
          <a:xfrm>
            <a:off x="1051560" y="2542032"/>
            <a:ext cx="4678528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2800"/>
              <a:buFont typeface="Meiryo"/>
              <a:buNone/>
            </a:pPr>
            <a:r>
              <a:rPr b="1" i="0" lang="en-US" sz="2800" u="none" cap="none" strike="noStrike">
                <a:solidFill>
                  <a:srgbClr val="111827"/>
                </a:solidFill>
                <a:latin typeface="Meiryo"/>
                <a:ea typeface="Meiryo"/>
                <a:cs typeface="Meiryo"/>
                <a:sym typeface="Meiryo"/>
              </a:rPr>
              <a:t>小さいメタ構文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60;p6"/>
          <p:cNvSpPr/>
          <p:nvPr/>
        </p:nvSpPr>
        <p:spPr>
          <a:xfrm>
            <a:off x="1051560" y="3017520"/>
            <a:ext cx="4678528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2000"/>
              <a:buFont typeface="Meiryo"/>
              <a:buNone/>
            </a:pPr>
            <a:r>
              <a:rPr b="0" i="0" lang="en-US" sz="2000" u="none" cap="none" strike="noStrike">
                <a:solidFill>
                  <a:srgbClr val="4B5563"/>
                </a:solidFill>
                <a:latin typeface="Meiryo"/>
                <a:ea typeface="Meiryo"/>
                <a:cs typeface="Meiryo"/>
                <a:sym typeface="Meiryo"/>
              </a:rPr>
              <a:t>XMLっぽい要素+属性モデル（EAST）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" name="Google Shape;61;p6"/>
          <p:cNvSpPr/>
          <p:nvPr/>
        </p:nvSpPr>
        <p:spPr>
          <a:xfrm>
            <a:off x="6095848" y="2377440"/>
            <a:ext cx="5135728" cy="1417320"/>
          </a:xfrm>
          <a:prstGeom prst="roundRect">
            <a:avLst>
              <a:gd fmla="val 16667" name="adj"/>
            </a:avLst>
          </a:prstGeom>
          <a:solidFill>
            <a:srgbClr val="F3F4F6"/>
          </a:solidFill>
          <a:ln cap="flat" cmpd="sng" w="12700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  <a:effectLst>
            <a:outerShdw blurRad="38100" rotWithShape="0" algn="bl" dir="2700000" dist="12700">
              <a:srgbClr val="000000">
                <a:alpha val="980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" name="Google Shape;62;p6"/>
          <p:cNvSpPr/>
          <p:nvPr/>
        </p:nvSpPr>
        <p:spPr>
          <a:xfrm>
            <a:off x="6324448" y="2542032"/>
            <a:ext cx="4678528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2800"/>
              <a:buFont typeface="Meiryo"/>
              <a:buNone/>
            </a:pPr>
            <a:r>
              <a:rPr b="1" i="0" lang="en-US" sz="2800" u="none" cap="none" strike="noStrike">
                <a:solidFill>
                  <a:srgbClr val="111827"/>
                </a:solidFill>
                <a:latin typeface="Meiryo"/>
                <a:ea typeface="Meiryo"/>
                <a:cs typeface="Meiryo"/>
                <a:sym typeface="Meiryo"/>
              </a:rPr>
              <a:t>具象構文は普通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p6"/>
          <p:cNvSpPr/>
          <p:nvPr/>
        </p:nvSpPr>
        <p:spPr>
          <a:xfrm>
            <a:off x="6324448" y="3017520"/>
            <a:ext cx="4678528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2000"/>
              <a:buFont typeface="Meiryo"/>
              <a:buNone/>
            </a:pPr>
            <a:r>
              <a:rPr b="0" i="0" lang="en-US" sz="2000" u="none" cap="none" strike="noStrike">
                <a:solidFill>
                  <a:srgbClr val="4B5563"/>
                </a:solidFill>
                <a:latin typeface="Meiryo"/>
                <a:ea typeface="Meiryo"/>
                <a:cs typeface="Meiryo"/>
                <a:sym typeface="Meiryo"/>
              </a:rPr>
              <a:t>Lisp / XMLみたいな見た目にしない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" name="Google Shape;64;p6"/>
          <p:cNvSpPr/>
          <p:nvPr/>
        </p:nvSpPr>
        <p:spPr>
          <a:xfrm>
            <a:off x="822960" y="4114800"/>
            <a:ext cx="5135728" cy="1417320"/>
          </a:xfrm>
          <a:prstGeom prst="roundRect">
            <a:avLst>
              <a:gd fmla="val 16667" name="adj"/>
            </a:avLst>
          </a:prstGeom>
          <a:solidFill>
            <a:srgbClr val="E3F2FD"/>
          </a:solidFill>
          <a:ln cap="flat" cmpd="sng" w="12700">
            <a:solidFill>
              <a:srgbClr val="BBDEFB"/>
            </a:solidFill>
            <a:prstDash val="solid"/>
            <a:round/>
            <a:headEnd len="sm" w="sm" type="none"/>
            <a:tailEnd len="sm" w="sm" type="none"/>
          </a:ln>
          <a:effectLst>
            <a:outerShdw blurRad="38100" rotWithShape="0" algn="bl" dir="2700000" dist="12700">
              <a:srgbClr val="000000">
                <a:alpha val="980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" name="Google Shape;65;p6"/>
          <p:cNvSpPr/>
          <p:nvPr/>
        </p:nvSpPr>
        <p:spPr>
          <a:xfrm>
            <a:off x="1051560" y="4279392"/>
            <a:ext cx="4678528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2800"/>
              <a:buFont typeface="Meiryo"/>
              <a:buNone/>
            </a:pPr>
            <a:r>
              <a:rPr b="1" i="0" lang="en-US" sz="2800" u="none" cap="none" strike="noStrike">
                <a:solidFill>
                  <a:srgbClr val="111827"/>
                </a:solidFill>
                <a:latin typeface="Meiryo"/>
                <a:ea typeface="Meiryo"/>
                <a:cs typeface="Meiryo"/>
                <a:sym typeface="Meiryo"/>
              </a:rPr>
              <a:t>衛生的マクロ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6"/>
          <p:cNvSpPr/>
          <p:nvPr/>
        </p:nvSpPr>
        <p:spPr>
          <a:xfrm>
            <a:off x="1051560" y="4754880"/>
            <a:ext cx="4678528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2000"/>
              <a:buFont typeface="Meiryo"/>
              <a:buNone/>
            </a:pPr>
            <a:r>
              <a:rPr b="0" i="0" lang="en-US" sz="2000" u="none" cap="none" strike="noStrike">
                <a:solidFill>
                  <a:srgbClr val="4B5563"/>
                </a:solidFill>
                <a:latin typeface="Meiryo"/>
                <a:ea typeface="Meiryo"/>
                <a:cs typeface="Meiryo"/>
                <a:sym typeface="Meiryo"/>
              </a:rPr>
              <a:t>パターンマッチ＋置換＋gensym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p6"/>
          <p:cNvSpPr/>
          <p:nvPr/>
        </p:nvSpPr>
        <p:spPr>
          <a:xfrm>
            <a:off x="6095848" y="4114800"/>
            <a:ext cx="5135728" cy="1417320"/>
          </a:xfrm>
          <a:prstGeom prst="roundRect">
            <a:avLst>
              <a:gd fmla="val 16667" name="adj"/>
            </a:avLst>
          </a:prstGeom>
          <a:solidFill>
            <a:srgbClr val="FFF3E0"/>
          </a:solidFill>
          <a:ln cap="flat" cmpd="sng" w="12700">
            <a:solidFill>
              <a:srgbClr val="FFE0B2"/>
            </a:solidFill>
            <a:prstDash val="solid"/>
            <a:round/>
            <a:headEnd len="sm" w="sm" type="none"/>
            <a:tailEnd len="sm" w="sm" type="none"/>
          </a:ln>
          <a:effectLst>
            <a:outerShdw blurRad="38100" rotWithShape="0" algn="bl" dir="2700000" dist="12700">
              <a:srgbClr val="000000">
                <a:alpha val="980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" name="Google Shape;68;p6"/>
          <p:cNvSpPr/>
          <p:nvPr/>
        </p:nvSpPr>
        <p:spPr>
          <a:xfrm>
            <a:off x="6324448" y="4279392"/>
            <a:ext cx="4678528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2800"/>
              <a:buFont typeface="Meiryo"/>
              <a:buNone/>
            </a:pPr>
            <a:r>
              <a:rPr b="1" i="0" lang="en-US" sz="2800" u="none" cap="none" strike="noStrike">
                <a:solidFill>
                  <a:srgbClr val="111827"/>
                </a:solidFill>
                <a:latin typeface="Meiryo"/>
                <a:ea typeface="Meiryo"/>
                <a:cs typeface="Meiryo"/>
                <a:sym typeface="Meiryo"/>
              </a:rPr>
              <a:t>HM型推論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6"/>
          <p:cNvSpPr/>
          <p:nvPr/>
        </p:nvSpPr>
        <p:spPr>
          <a:xfrm>
            <a:off x="6324448" y="4754880"/>
            <a:ext cx="4678528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2000"/>
              <a:buFont typeface="Meiryo"/>
              <a:buNone/>
            </a:pPr>
            <a:r>
              <a:rPr b="0" i="0" lang="en-US" sz="2000" u="none" cap="none" strike="noStrike">
                <a:solidFill>
                  <a:srgbClr val="4B5563"/>
                </a:solidFill>
                <a:latin typeface="Meiryo"/>
                <a:ea typeface="Meiryo"/>
                <a:cs typeface="Meiryo"/>
                <a:sym typeface="Meiryo"/>
              </a:rPr>
              <a:t>Algorithm Wベースで型注釈を減らす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70" name="Google Shape;70;p6"/>
          <p:cNvCxnSpPr/>
          <p:nvPr/>
        </p:nvCxnSpPr>
        <p:spPr>
          <a:xfrm>
            <a:off x="548640" y="6355080"/>
            <a:ext cx="11094415" cy="0"/>
          </a:xfrm>
          <a:prstGeom prst="straightConnector1">
            <a:avLst/>
          </a:prstGeom>
          <a:noFill/>
          <a:ln cap="flat" cmpd="sng" w="12700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1" name="Google Shape;71;p6"/>
          <p:cNvSpPr/>
          <p:nvPr/>
        </p:nvSpPr>
        <p:spPr>
          <a:xfrm>
            <a:off x="548640" y="6446520"/>
            <a:ext cx="11094415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1400"/>
              <a:buFont typeface="Meiryo"/>
              <a:buNone/>
            </a:pPr>
            <a:r>
              <a:rPr b="0" i="0" lang="en-US" sz="1400" u="none" cap="none" strike="noStrike">
                <a:solidFill>
                  <a:srgbClr val="4B5563"/>
                </a:solidFill>
                <a:latin typeface="Meiryo"/>
                <a:ea typeface="Meiryo"/>
                <a:cs typeface="Meiryo"/>
                <a:sym typeface="Meiryo"/>
              </a:rPr>
              <a:t>TreeP / 10 slides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7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0D47A1"/>
          </a:solidFill>
          <a:ln cap="flat" cmpd="sng" w="12700">
            <a:solidFill>
              <a:srgbClr val="0D47A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" name="Google Shape;78;p7"/>
          <p:cNvSpPr/>
          <p:nvPr/>
        </p:nvSpPr>
        <p:spPr>
          <a:xfrm>
            <a:off x="548640" y="109728"/>
            <a:ext cx="10362895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Meiryo"/>
              <a:buNone/>
            </a:pPr>
            <a:r>
              <a:rPr b="1" i="0" lang="en-US" sz="2400" u="none" cap="none" strike="noStrike">
                <a:solidFill>
                  <a:srgbClr val="FFFFFF"/>
                </a:solidFill>
                <a:latin typeface="Meiryo"/>
                <a:ea typeface="Meiryo"/>
                <a:cs typeface="Meiryo"/>
                <a:sym typeface="Meiryo"/>
              </a:rPr>
              <a:t>処理系パイプライン（学習しやすい王道）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p7"/>
          <p:cNvSpPr/>
          <p:nvPr/>
        </p:nvSpPr>
        <p:spPr>
          <a:xfrm>
            <a:off x="822960" y="914400"/>
            <a:ext cx="109728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3200"/>
              <a:buFont typeface="Meiryo"/>
              <a:buNone/>
            </a:pPr>
            <a:r>
              <a:rPr b="1" i="0" lang="en-US" sz="3200" u="none" cap="none" strike="noStrike">
                <a:solidFill>
                  <a:srgbClr val="111827"/>
                </a:solidFill>
                <a:latin typeface="Meiryo"/>
                <a:ea typeface="Meiryo"/>
                <a:cs typeface="Meiryo"/>
                <a:sym typeface="Meiryo"/>
              </a:rPr>
              <a:t>表層構文 → EAST → マクロ → 型推論 → 実行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7"/>
          <p:cNvSpPr/>
          <p:nvPr/>
        </p:nvSpPr>
        <p:spPr>
          <a:xfrm>
            <a:off x="640080" y="2011680"/>
            <a:ext cx="1600200" cy="1051560"/>
          </a:xfrm>
          <a:prstGeom prst="roundRect">
            <a:avLst>
              <a:gd fmla="val 16667" name="adj"/>
            </a:avLst>
          </a:prstGeom>
          <a:solidFill>
            <a:srgbClr val="E3F2FD"/>
          </a:solidFill>
          <a:ln cap="flat" cmpd="sng" w="12700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" name="Google Shape;81;p7"/>
          <p:cNvSpPr/>
          <p:nvPr/>
        </p:nvSpPr>
        <p:spPr>
          <a:xfrm>
            <a:off x="640080" y="2121408"/>
            <a:ext cx="16002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2200"/>
              <a:buFont typeface="Meiryo"/>
              <a:buNone/>
            </a:pPr>
            <a:r>
              <a:rPr b="1" i="0" lang="en-US" sz="2200" u="none" cap="none" strike="noStrike">
                <a:solidFill>
                  <a:srgbClr val="111827"/>
                </a:solidFill>
                <a:latin typeface="Meiryo"/>
                <a:ea typeface="Meiryo"/>
                <a:cs typeface="Meiryo"/>
                <a:sym typeface="Meiryo"/>
              </a:rPr>
              <a:t>Lexer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7"/>
          <p:cNvSpPr/>
          <p:nvPr/>
        </p:nvSpPr>
        <p:spPr>
          <a:xfrm>
            <a:off x="731520" y="2560320"/>
            <a:ext cx="14173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1600"/>
              <a:buFont typeface="Meiryo"/>
              <a:buNone/>
            </a:pPr>
            <a:r>
              <a:rPr b="0" i="0" lang="en-US" sz="1600" u="none" cap="none" strike="noStrike">
                <a:solidFill>
                  <a:srgbClr val="4B5563"/>
                </a:solidFill>
                <a:latin typeface="Meiryo"/>
                <a:ea typeface="Meiryo"/>
                <a:cs typeface="Meiryo"/>
                <a:sym typeface="Meiryo"/>
              </a:rPr>
              <a:t>字句解析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83" name="Google Shape;83;p7"/>
          <p:cNvCxnSpPr/>
          <p:nvPr/>
        </p:nvCxnSpPr>
        <p:spPr>
          <a:xfrm>
            <a:off x="2258568" y="2537460"/>
            <a:ext cx="146304" cy="0"/>
          </a:xfrm>
          <a:prstGeom prst="straightConnector1">
            <a:avLst/>
          </a:prstGeom>
          <a:noFill/>
          <a:ln cap="flat" cmpd="sng" w="38100">
            <a:solidFill>
              <a:srgbClr val="0D47A1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84" name="Google Shape;84;p7"/>
          <p:cNvSpPr/>
          <p:nvPr/>
        </p:nvSpPr>
        <p:spPr>
          <a:xfrm>
            <a:off x="2423160" y="2011680"/>
            <a:ext cx="1600200" cy="1051560"/>
          </a:xfrm>
          <a:prstGeom prst="roundRect">
            <a:avLst>
              <a:gd fmla="val 16667" name="adj"/>
            </a:avLst>
          </a:prstGeom>
          <a:solidFill>
            <a:srgbClr val="F3F4F6"/>
          </a:solidFill>
          <a:ln cap="flat" cmpd="sng" w="12700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" name="Google Shape;85;p7"/>
          <p:cNvSpPr/>
          <p:nvPr/>
        </p:nvSpPr>
        <p:spPr>
          <a:xfrm>
            <a:off x="2423160" y="2121408"/>
            <a:ext cx="16002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2200"/>
              <a:buFont typeface="Meiryo"/>
              <a:buNone/>
            </a:pPr>
            <a:r>
              <a:rPr b="1" i="0" lang="en-US" sz="2200" u="none" cap="none" strike="noStrike">
                <a:solidFill>
                  <a:srgbClr val="111827"/>
                </a:solidFill>
                <a:latin typeface="Meiryo"/>
                <a:ea typeface="Meiryo"/>
                <a:cs typeface="Meiryo"/>
                <a:sym typeface="Meiryo"/>
              </a:rPr>
              <a:t>Parser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7"/>
          <p:cNvSpPr/>
          <p:nvPr/>
        </p:nvSpPr>
        <p:spPr>
          <a:xfrm>
            <a:off x="2514600" y="2560320"/>
            <a:ext cx="14173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1600"/>
              <a:buFont typeface="Meiryo"/>
              <a:buNone/>
            </a:pPr>
            <a:r>
              <a:rPr b="0" i="0" lang="en-US" sz="1600" u="none" cap="none" strike="noStrike">
                <a:solidFill>
                  <a:srgbClr val="4B5563"/>
                </a:solidFill>
                <a:latin typeface="Meiryo"/>
                <a:ea typeface="Meiryo"/>
                <a:cs typeface="Meiryo"/>
                <a:sym typeface="Meiryo"/>
              </a:rPr>
              <a:t>構文解析 → CST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87" name="Google Shape;87;p7"/>
          <p:cNvCxnSpPr/>
          <p:nvPr/>
        </p:nvCxnSpPr>
        <p:spPr>
          <a:xfrm>
            <a:off x="4041648" y="2537460"/>
            <a:ext cx="146304" cy="0"/>
          </a:xfrm>
          <a:prstGeom prst="straightConnector1">
            <a:avLst/>
          </a:prstGeom>
          <a:noFill/>
          <a:ln cap="flat" cmpd="sng" w="38100">
            <a:solidFill>
              <a:srgbClr val="0D47A1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88" name="Google Shape;88;p7"/>
          <p:cNvSpPr/>
          <p:nvPr/>
        </p:nvSpPr>
        <p:spPr>
          <a:xfrm>
            <a:off x="4206240" y="2011680"/>
            <a:ext cx="1600200" cy="1051560"/>
          </a:xfrm>
          <a:prstGeom prst="roundRect">
            <a:avLst>
              <a:gd fmla="val 16667" name="adj"/>
            </a:avLst>
          </a:prstGeom>
          <a:solidFill>
            <a:srgbClr val="E3F2FD"/>
          </a:solidFill>
          <a:ln cap="flat" cmpd="sng" w="12700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7"/>
          <p:cNvSpPr/>
          <p:nvPr/>
        </p:nvSpPr>
        <p:spPr>
          <a:xfrm>
            <a:off x="4206240" y="2121408"/>
            <a:ext cx="16002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2200"/>
              <a:buFont typeface="Meiryo"/>
              <a:buNone/>
            </a:pPr>
            <a:r>
              <a:rPr b="1" i="0" lang="en-US" sz="2200" u="none" cap="none" strike="noStrike">
                <a:solidFill>
                  <a:srgbClr val="111827"/>
                </a:solidFill>
                <a:latin typeface="Meiryo"/>
                <a:ea typeface="Meiryo"/>
                <a:cs typeface="Meiryo"/>
                <a:sym typeface="Meiryo"/>
              </a:rPr>
              <a:t>Normalize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7"/>
          <p:cNvSpPr/>
          <p:nvPr/>
        </p:nvSpPr>
        <p:spPr>
          <a:xfrm>
            <a:off x="4297680" y="2560320"/>
            <a:ext cx="14173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1600"/>
              <a:buFont typeface="Meiryo"/>
              <a:buNone/>
            </a:pPr>
            <a:r>
              <a:rPr b="0" i="0" lang="en-US" sz="1600" u="none" cap="none" strike="noStrike">
                <a:solidFill>
                  <a:srgbClr val="4B5563"/>
                </a:solidFill>
                <a:latin typeface="Meiryo"/>
                <a:ea typeface="Meiryo"/>
                <a:cs typeface="Meiryo"/>
                <a:sym typeface="Meiryo"/>
              </a:rPr>
              <a:t>EAST化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91" name="Google Shape;91;p7"/>
          <p:cNvCxnSpPr/>
          <p:nvPr/>
        </p:nvCxnSpPr>
        <p:spPr>
          <a:xfrm>
            <a:off x="5824728" y="2537460"/>
            <a:ext cx="146304" cy="0"/>
          </a:xfrm>
          <a:prstGeom prst="straightConnector1">
            <a:avLst/>
          </a:prstGeom>
          <a:noFill/>
          <a:ln cap="flat" cmpd="sng" w="38100">
            <a:solidFill>
              <a:srgbClr val="0D47A1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92" name="Google Shape;92;p7"/>
          <p:cNvSpPr/>
          <p:nvPr/>
        </p:nvSpPr>
        <p:spPr>
          <a:xfrm>
            <a:off x="5989320" y="2011680"/>
            <a:ext cx="1600200" cy="1051560"/>
          </a:xfrm>
          <a:prstGeom prst="roundRect">
            <a:avLst>
              <a:gd fmla="val 16667" name="adj"/>
            </a:avLst>
          </a:prstGeom>
          <a:solidFill>
            <a:srgbClr val="F3F4F6"/>
          </a:solidFill>
          <a:ln cap="flat" cmpd="sng" w="12700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7"/>
          <p:cNvSpPr/>
          <p:nvPr/>
        </p:nvSpPr>
        <p:spPr>
          <a:xfrm>
            <a:off x="5989320" y="2121408"/>
            <a:ext cx="16002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2200"/>
              <a:buFont typeface="Meiryo"/>
              <a:buNone/>
            </a:pPr>
            <a:r>
              <a:rPr b="1" i="0" lang="en-US" sz="2200" u="none" cap="none" strike="noStrike">
                <a:solidFill>
                  <a:srgbClr val="111827"/>
                </a:solidFill>
                <a:latin typeface="Meiryo"/>
                <a:ea typeface="Meiryo"/>
                <a:cs typeface="Meiryo"/>
                <a:sym typeface="Meiryo"/>
              </a:rPr>
              <a:t>Macro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7"/>
          <p:cNvSpPr/>
          <p:nvPr/>
        </p:nvSpPr>
        <p:spPr>
          <a:xfrm>
            <a:off x="6080760" y="2560320"/>
            <a:ext cx="14173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1600"/>
              <a:buFont typeface="Meiryo"/>
              <a:buNone/>
            </a:pPr>
            <a:r>
              <a:rPr b="0" i="0" lang="en-US" sz="1600" u="none" cap="none" strike="noStrike">
                <a:solidFill>
                  <a:srgbClr val="4B5563"/>
                </a:solidFill>
                <a:latin typeface="Meiryo"/>
                <a:ea typeface="Meiryo"/>
                <a:cs typeface="Meiryo"/>
                <a:sym typeface="Meiryo"/>
              </a:rPr>
              <a:t>展開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95" name="Google Shape;95;p7"/>
          <p:cNvCxnSpPr/>
          <p:nvPr/>
        </p:nvCxnSpPr>
        <p:spPr>
          <a:xfrm>
            <a:off x="7607808" y="2537460"/>
            <a:ext cx="146304" cy="0"/>
          </a:xfrm>
          <a:prstGeom prst="straightConnector1">
            <a:avLst/>
          </a:prstGeom>
          <a:noFill/>
          <a:ln cap="flat" cmpd="sng" w="38100">
            <a:solidFill>
              <a:srgbClr val="0D47A1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96" name="Google Shape;96;p7"/>
          <p:cNvSpPr/>
          <p:nvPr/>
        </p:nvSpPr>
        <p:spPr>
          <a:xfrm>
            <a:off x="7772400" y="2011680"/>
            <a:ext cx="1600200" cy="1051560"/>
          </a:xfrm>
          <a:prstGeom prst="roundRect">
            <a:avLst>
              <a:gd fmla="val 16667" name="adj"/>
            </a:avLst>
          </a:prstGeom>
          <a:solidFill>
            <a:srgbClr val="E3F2FD"/>
          </a:solidFill>
          <a:ln cap="flat" cmpd="sng" w="12700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7"/>
          <p:cNvSpPr/>
          <p:nvPr/>
        </p:nvSpPr>
        <p:spPr>
          <a:xfrm>
            <a:off x="7772400" y="2121408"/>
            <a:ext cx="16002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2200"/>
              <a:buFont typeface="Meiryo"/>
              <a:buNone/>
            </a:pPr>
            <a:r>
              <a:rPr b="1" i="0" lang="en-US" sz="2200" u="none" cap="none" strike="noStrike">
                <a:solidFill>
                  <a:srgbClr val="111827"/>
                </a:solidFill>
                <a:latin typeface="Meiryo"/>
                <a:ea typeface="Meiryo"/>
                <a:cs typeface="Meiryo"/>
                <a:sym typeface="Meiryo"/>
              </a:rPr>
              <a:t>HM Types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7"/>
          <p:cNvSpPr/>
          <p:nvPr/>
        </p:nvSpPr>
        <p:spPr>
          <a:xfrm>
            <a:off x="7863840" y="2560320"/>
            <a:ext cx="14173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1600"/>
              <a:buFont typeface="Meiryo"/>
              <a:buNone/>
            </a:pPr>
            <a:r>
              <a:rPr b="0" i="0" lang="en-US" sz="1600" u="none" cap="none" strike="noStrike">
                <a:solidFill>
                  <a:srgbClr val="4B5563"/>
                </a:solidFill>
                <a:latin typeface="Meiryo"/>
                <a:ea typeface="Meiryo"/>
                <a:cs typeface="Meiryo"/>
                <a:sym typeface="Meiryo"/>
              </a:rPr>
              <a:t>型推論/検査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99" name="Google Shape;99;p7"/>
          <p:cNvCxnSpPr/>
          <p:nvPr/>
        </p:nvCxnSpPr>
        <p:spPr>
          <a:xfrm>
            <a:off x="9390888" y="2537460"/>
            <a:ext cx="146304" cy="0"/>
          </a:xfrm>
          <a:prstGeom prst="straightConnector1">
            <a:avLst/>
          </a:prstGeom>
          <a:noFill/>
          <a:ln cap="flat" cmpd="sng" w="38100">
            <a:solidFill>
              <a:srgbClr val="0D47A1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00" name="Google Shape;100;p7"/>
          <p:cNvSpPr/>
          <p:nvPr/>
        </p:nvSpPr>
        <p:spPr>
          <a:xfrm>
            <a:off x="9555480" y="2011680"/>
            <a:ext cx="1600200" cy="1051560"/>
          </a:xfrm>
          <a:prstGeom prst="roundRect">
            <a:avLst>
              <a:gd fmla="val 16667" name="adj"/>
            </a:avLst>
          </a:prstGeom>
          <a:solidFill>
            <a:srgbClr val="F3F4F6"/>
          </a:solidFill>
          <a:ln cap="flat" cmpd="sng" w="12700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p7"/>
          <p:cNvSpPr/>
          <p:nvPr/>
        </p:nvSpPr>
        <p:spPr>
          <a:xfrm>
            <a:off x="9555480" y="2121408"/>
            <a:ext cx="16002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2200"/>
              <a:buFont typeface="Meiryo"/>
              <a:buNone/>
            </a:pPr>
            <a:r>
              <a:rPr b="1" i="0" lang="en-US" sz="2200" u="none" cap="none" strike="noStrike">
                <a:solidFill>
                  <a:srgbClr val="111827"/>
                </a:solidFill>
                <a:latin typeface="Meiryo"/>
                <a:ea typeface="Meiryo"/>
                <a:cs typeface="Meiryo"/>
                <a:sym typeface="Meiryo"/>
              </a:rPr>
              <a:t>Interpreter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7"/>
          <p:cNvSpPr/>
          <p:nvPr/>
        </p:nvSpPr>
        <p:spPr>
          <a:xfrm>
            <a:off x="9646920" y="2560320"/>
            <a:ext cx="14173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1600"/>
              <a:buFont typeface="Meiryo"/>
              <a:buNone/>
            </a:pPr>
            <a:r>
              <a:rPr b="0" i="0" lang="en-US" sz="1600" u="none" cap="none" strike="noStrike">
                <a:solidFill>
                  <a:srgbClr val="4B5563"/>
                </a:solidFill>
                <a:latin typeface="Meiryo"/>
                <a:ea typeface="Meiryo"/>
                <a:cs typeface="Meiryo"/>
                <a:sym typeface="Meiryo"/>
              </a:rPr>
              <a:t>実行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7"/>
          <p:cNvSpPr/>
          <p:nvPr/>
        </p:nvSpPr>
        <p:spPr>
          <a:xfrm>
            <a:off x="822960" y="3657600"/>
            <a:ext cx="10972800" cy="1828800"/>
          </a:xfrm>
          <a:prstGeom prst="roundRect">
            <a:avLst>
              <a:gd fmla="val 16667" name="adj"/>
            </a:avLst>
          </a:prstGeom>
          <a:solidFill>
            <a:srgbClr val="E8F5E9"/>
          </a:solidFill>
          <a:ln cap="flat" cmpd="sng" w="12700">
            <a:solidFill>
              <a:srgbClr val="C8E6C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p7"/>
          <p:cNvSpPr/>
          <p:nvPr/>
        </p:nvSpPr>
        <p:spPr>
          <a:xfrm>
            <a:off x="1097280" y="3822192"/>
            <a:ext cx="10424160" cy="1554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2600"/>
              <a:buFont typeface="Meiryo"/>
              <a:buNone/>
            </a:pPr>
            <a:r>
              <a:rPr b="1" i="0" lang="en-US" sz="2600" u="none" cap="none" strike="noStrike">
                <a:solidFill>
                  <a:srgbClr val="111827"/>
                </a:solidFill>
                <a:latin typeface="Meiryo"/>
                <a:ea typeface="Meiryo"/>
                <a:cs typeface="Meiryo"/>
                <a:sym typeface="Meiryo"/>
              </a:rPr>
              <a:t>ポイント：EASTという中間表現を挟むと、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2600"/>
              <a:buFont typeface="Meiryo"/>
              <a:buNone/>
            </a:pPr>
            <a:r>
              <a:rPr b="1" i="0" lang="en-US" sz="2600" u="none" cap="none" strike="noStrike">
                <a:solidFill>
                  <a:srgbClr val="111827"/>
                </a:solidFill>
                <a:latin typeface="Meiryo"/>
                <a:ea typeface="Meiryo"/>
                <a:cs typeface="Meiryo"/>
                <a:sym typeface="Meiryo"/>
              </a:rPr>
              <a:t>「マクロの書きやすさ」と「型検査」の両立がラクになる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05" name="Google Shape;105;p7"/>
          <p:cNvCxnSpPr/>
          <p:nvPr/>
        </p:nvCxnSpPr>
        <p:spPr>
          <a:xfrm>
            <a:off x="548640" y="6355080"/>
            <a:ext cx="11094415" cy="0"/>
          </a:xfrm>
          <a:prstGeom prst="straightConnector1">
            <a:avLst/>
          </a:prstGeom>
          <a:noFill/>
          <a:ln cap="flat" cmpd="sng" w="12700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06" name="Google Shape;106;p7"/>
          <p:cNvSpPr/>
          <p:nvPr/>
        </p:nvSpPr>
        <p:spPr>
          <a:xfrm>
            <a:off x="548640" y="6446520"/>
            <a:ext cx="11094415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1400"/>
              <a:buFont typeface="Meiryo"/>
              <a:buNone/>
            </a:pPr>
            <a:r>
              <a:rPr b="0" i="0" lang="en-US" sz="1400" u="none" cap="none" strike="noStrike">
                <a:solidFill>
                  <a:srgbClr val="4B5563"/>
                </a:solidFill>
                <a:latin typeface="Meiryo"/>
                <a:ea typeface="Meiryo"/>
                <a:cs typeface="Meiryo"/>
                <a:sym typeface="Meiryo"/>
              </a:rPr>
              <a:t>TreeP / 10 slides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8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0D47A1"/>
          </a:solidFill>
          <a:ln cap="flat" cmpd="sng" w="12700">
            <a:solidFill>
              <a:srgbClr val="0D47A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p8"/>
          <p:cNvSpPr/>
          <p:nvPr/>
        </p:nvSpPr>
        <p:spPr>
          <a:xfrm>
            <a:off x="548640" y="109728"/>
            <a:ext cx="10362895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Meiryo"/>
              <a:buNone/>
            </a:pPr>
            <a:r>
              <a:rPr b="1" i="0" lang="en-US" sz="2400" u="none" cap="none" strike="noStrike">
                <a:solidFill>
                  <a:srgbClr val="FFFFFF"/>
                </a:solidFill>
                <a:latin typeface="Meiryo"/>
                <a:ea typeface="Meiryo"/>
                <a:cs typeface="Meiryo"/>
                <a:sym typeface="Meiryo"/>
              </a:rPr>
              <a:t>EAST（Element AST）: “XMLっぽいAST”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8"/>
          <p:cNvSpPr/>
          <p:nvPr/>
        </p:nvSpPr>
        <p:spPr>
          <a:xfrm>
            <a:off x="822960" y="914400"/>
            <a:ext cx="109728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3200"/>
              <a:buFont typeface="Meiryo"/>
              <a:buNone/>
            </a:pPr>
            <a:r>
              <a:rPr b="1" i="0" lang="en-US" sz="3200" u="none" cap="none" strike="noStrike">
                <a:solidFill>
                  <a:srgbClr val="111827"/>
                </a:solidFill>
                <a:latin typeface="Meiryo"/>
                <a:ea typeface="Meiryo"/>
                <a:cs typeface="Meiryo"/>
                <a:sym typeface="Meiryo"/>
              </a:rPr>
              <a:t>全ノードが同じ形 → マクロ処理がシンプル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8"/>
          <p:cNvSpPr/>
          <p:nvPr/>
        </p:nvSpPr>
        <p:spPr>
          <a:xfrm>
            <a:off x="822960" y="1645920"/>
            <a:ext cx="5486400" cy="2148840"/>
          </a:xfrm>
          <a:prstGeom prst="roundRect">
            <a:avLst>
              <a:gd fmla="val 16667" name="adj"/>
            </a:avLst>
          </a:prstGeom>
          <a:solidFill>
            <a:srgbClr val="FFF3E0"/>
          </a:solidFill>
          <a:ln cap="flat" cmpd="sng" w="12700">
            <a:solidFill>
              <a:srgbClr val="FFE0B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p8"/>
          <p:cNvSpPr/>
          <p:nvPr/>
        </p:nvSpPr>
        <p:spPr>
          <a:xfrm>
            <a:off x="1097280" y="1874520"/>
            <a:ext cx="49377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2000"/>
              <a:buFont typeface="Consolas"/>
              <a:buNone/>
            </a:pPr>
            <a:r>
              <a:rPr b="1" i="0" lang="en-US" sz="2000" u="none" cap="none" strike="noStrike">
                <a:solidFill>
                  <a:srgbClr val="111827"/>
                </a:solidFill>
                <a:latin typeface="Consolas"/>
                <a:ea typeface="Consolas"/>
                <a:cs typeface="Consolas"/>
                <a:sym typeface="Consolas"/>
              </a:rPr>
              <a:t>Element(kind, name?, attrs, children, span?)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8"/>
          <p:cNvSpPr/>
          <p:nvPr/>
        </p:nvSpPr>
        <p:spPr>
          <a:xfrm>
            <a:off x="1051560" y="2423160"/>
            <a:ext cx="5120640" cy="1280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279400" lvl="0" marL="27940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2000"/>
              <a:buFont typeface="Meiryo"/>
              <a:buChar char="•"/>
            </a:pPr>
            <a:r>
              <a:rPr b="0" i="0" lang="en-US" sz="2000" u="none" cap="none" strike="noStrike">
                <a:solidFill>
                  <a:srgbClr val="111827"/>
                </a:solidFill>
                <a:latin typeface="Meiryo"/>
                <a:ea typeface="Meiryo"/>
                <a:cs typeface="Meiryo"/>
                <a:sym typeface="Meiryo"/>
              </a:rPr>
              <a:t>kind: "def" / "let" / "call" など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79400" lvl="0" marL="27940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2000"/>
              <a:buFont typeface="Meiryo"/>
              <a:buChar char="•"/>
            </a:pPr>
            <a:r>
              <a:rPr b="0" i="0" lang="en-US" sz="2000" u="none" cap="none" strike="noStrike">
                <a:solidFill>
                  <a:srgbClr val="111827"/>
                </a:solidFill>
                <a:latin typeface="Meiryo"/>
                <a:ea typeface="Meiryo"/>
                <a:cs typeface="Meiryo"/>
                <a:sym typeface="Meiryo"/>
              </a:rPr>
              <a:t>name: 識別子（省略可）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79400" lvl="0" marL="27940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2000"/>
              <a:buFont typeface="Meiryo"/>
              <a:buChar char="•"/>
            </a:pPr>
            <a:r>
              <a:rPr b="0" i="0" lang="en-US" sz="2000" u="none" cap="none" strike="noStrike">
                <a:solidFill>
                  <a:srgbClr val="111827"/>
                </a:solidFill>
                <a:latin typeface="Meiryo"/>
                <a:ea typeface="Meiryo"/>
                <a:cs typeface="Meiryo"/>
                <a:sym typeface="Meiryo"/>
              </a:rPr>
              <a:t>attrs: 型情報などの属性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79400" lvl="0" marL="27940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2000"/>
              <a:buFont typeface="Meiryo"/>
              <a:buChar char="•"/>
            </a:pPr>
            <a:r>
              <a:rPr b="0" i="0" lang="en-US" sz="2000" u="none" cap="none" strike="noStrike">
                <a:solidFill>
                  <a:srgbClr val="111827"/>
                </a:solidFill>
                <a:latin typeface="Meiryo"/>
                <a:ea typeface="Meiryo"/>
                <a:cs typeface="Meiryo"/>
                <a:sym typeface="Meiryo"/>
              </a:rPr>
              <a:t>children: 子要素（木）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8"/>
          <p:cNvSpPr/>
          <p:nvPr/>
        </p:nvSpPr>
        <p:spPr>
          <a:xfrm>
            <a:off x="6492240" y="1645920"/>
            <a:ext cx="4892040" cy="4023360"/>
          </a:xfrm>
          <a:prstGeom prst="roundRect">
            <a:avLst>
              <a:gd fmla="val 16667" name="adj"/>
            </a:avLst>
          </a:prstGeom>
          <a:solidFill>
            <a:srgbClr val="F3F4F6"/>
          </a:solidFill>
          <a:ln cap="flat" cmpd="sng" w="12700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p8"/>
          <p:cNvSpPr/>
          <p:nvPr/>
        </p:nvSpPr>
        <p:spPr>
          <a:xfrm>
            <a:off x="6720840" y="1828800"/>
            <a:ext cx="44805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2200"/>
              <a:buFont typeface="Meiryo"/>
              <a:buNone/>
            </a:pPr>
            <a:r>
              <a:rPr b="1" i="0" lang="en-US" sz="2200" u="none" cap="none" strike="noStrike">
                <a:solidFill>
                  <a:srgbClr val="111827"/>
                </a:solidFill>
                <a:latin typeface="Meiryo"/>
                <a:ea typeface="Meiryo"/>
                <a:cs typeface="Meiryo"/>
                <a:sym typeface="Meiryo"/>
              </a:rPr>
              <a:t>例：関数定義 → EAST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8"/>
          <p:cNvSpPr/>
          <p:nvPr/>
        </p:nvSpPr>
        <p:spPr>
          <a:xfrm>
            <a:off x="6720840" y="2240280"/>
            <a:ext cx="4480560" cy="1417320"/>
          </a:xfrm>
          <a:prstGeom prst="roundRect">
            <a:avLst>
              <a:gd fmla="val 16667" name="adj"/>
            </a:avLst>
          </a:prstGeom>
          <a:solidFill>
            <a:srgbClr val="0B1020"/>
          </a:solidFill>
          <a:ln cap="flat" cmpd="sng" w="12700">
            <a:solidFill>
              <a:srgbClr val="0B1020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2700000" dist="25400">
              <a:srgbClr val="000000">
                <a:alpha val="1764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" name="Google Shape;121;p8"/>
          <p:cNvSpPr/>
          <p:nvPr/>
        </p:nvSpPr>
        <p:spPr>
          <a:xfrm>
            <a:off x="6949440" y="2423160"/>
            <a:ext cx="4023360" cy="10515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5E7EB"/>
              </a:buClr>
              <a:buSzPts val="1600"/>
              <a:buFont typeface="Consolas"/>
              <a:buNone/>
            </a:pPr>
            <a:r>
              <a:rPr b="0" i="0" lang="en-US" sz="1600" u="none" cap="none" strike="noStrike">
                <a:solidFill>
                  <a:srgbClr val="E5E7EB"/>
                </a:solidFill>
                <a:latin typeface="Consolas"/>
                <a:ea typeface="Consolas"/>
                <a:cs typeface="Consolas"/>
                <a:sym typeface="Consolas"/>
              </a:rPr>
              <a:t>def add(a: Int, b: Int) returns: Int {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5E7EB"/>
              </a:buClr>
              <a:buSzPts val="1600"/>
              <a:buFont typeface="Consolas"/>
              <a:buNone/>
            </a:pPr>
            <a:r>
              <a:rPr b="0" i="0" lang="en-US" sz="1600" u="none" cap="none" strike="noStrike">
                <a:solidFill>
                  <a:srgbClr val="E5E7EB"/>
                </a:solidFill>
                <a:latin typeface="Consolas"/>
                <a:ea typeface="Consolas"/>
                <a:cs typeface="Consolas"/>
                <a:sym typeface="Consolas"/>
              </a:rPr>
              <a:t>  return a + b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5E7EB"/>
              </a:buClr>
              <a:buSzPts val="1600"/>
              <a:buFont typeface="Consolas"/>
              <a:buNone/>
            </a:pPr>
            <a:r>
              <a:rPr b="0" i="0" lang="en-US" sz="1600" u="none" cap="none" strike="noStrike">
                <a:solidFill>
                  <a:srgbClr val="E5E7EB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8"/>
          <p:cNvSpPr/>
          <p:nvPr/>
        </p:nvSpPr>
        <p:spPr>
          <a:xfrm>
            <a:off x="8732520" y="3675888"/>
            <a:ext cx="457200" cy="411480"/>
          </a:xfrm>
          <a:prstGeom prst="downArrow">
            <a:avLst>
              <a:gd fmla="val 50000" name="adj1"/>
              <a:gd fmla="val 50000" name="adj2"/>
            </a:avLst>
          </a:prstGeom>
          <a:solidFill>
            <a:srgbClr val="0D47A1"/>
          </a:solidFill>
          <a:ln cap="flat" cmpd="sng" w="12700">
            <a:solidFill>
              <a:srgbClr val="0D47A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8"/>
          <p:cNvSpPr/>
          <p:nvPr/>
        </p:nvSpPr>
        <p:spPr>
          <a:xfrm>
            <a:off x="6720840" y="4160520"/>
            <a:ext cx="4480560" cy="1417320"/>
          </a:xfrm>
          <a:prstGeom prst="roundRect">
            <a:avLst>
              <a:gd fmla="val 16667" name="adj"/>
            </a:avLst>
          </a:prstGeom>
          <a:solidFill>
            <a:srgbClr val="0B1020"/>
          </a:solidFill>
          <a:ln cap="flat" cmpd="sng" w="12700">
            <a:solidFill>
              <a:srgbClr val="0B1020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2700000" dist="25400">
              <a:srgbClr val="000000">
                <a:alpha val="1764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p8"/>
          <p:cNvSpPr/>
          <p:nvPr/>
        </p:nvSpPr>
        <p:spPr>
          <a:xfrm>
            <a:off x="6949440" y="4343400"/>
            <a:ext cx="4023360" cy="10515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5E7EB"/>
              </a:buClr>
              <a:buSzPts val="1600"/>
              <a:buFont typeface="Consolas"/>
              <a:buNone/>
            </a:pPr>
            <a:r>
              <a:rPr b="0" i="0" lang="en-US" sz="1600" u="none" cap="none" strike="noStrike">
                <a:solidFill>
                  <a:srgbClr val="E5E7EB"/>
                </a:solidFill>
                <a:latin typeface="Consolas"/>
                <a:ea typeface="Consolas"/>
                <a:cs typeface="Consolas"/>
                <a:sym typeface="Consolas"/>
              </a:rPr>
              <a:t>def name="add" a="Int" b="Int" returns="Int" {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5E7EB"/>
              </a:buClr>
              <a:buSzPts val="1600"/>
              <a:buFont typeface="Consolas"/>
              <a:buNone/>
            </a:pPr>
            <a:r>
              <a:rPr b="0" i="0" lang="en-US" sz="1600" u="none" cap="none" strike="noStrike">
                <a:solidFill>
                  <a:srgbClr val="E5E7EB"/>
                </a:solidFill>
                <a:latin typeface="Consolas"/>
                <a:ea typeface="Consolas"/>
                <a:cs typeface="Consolas"/>
                <a:sym typeface="Consolas"/>
              </a:rPr>
              <a:t>  return {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5E7EB"/>
              </a:buClr>
              <a:buSzPts val="1600"/>
              <a:buFont typeface="Consolas"/>
              <a:buNone/>
            </a:pPr>
            <a:r>
              <a:rPr b="0" i="0" lang="en-US" sz="1600" u="none" cap="none" strike="noStrike">
                <a:solidFill>
                  <a:srgbClr val="E5E7EB"/>
                </a:solidFill>
                <a:latin typeface="Consolas"/>
                <a:ea typeface="Consolas"/>
                <a:cs typeface="Consolas"/>
                <a:sym typeface="Consolas"/>
              </a:rPr>
              <a:t>    call name="+" {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5E7EB"/>
              </a:buClr>
              <a:buSzPts val="1600"/>
              <a:buFont typeface="Consolas"/>
              <a:buNone/>
            </a:pPr>
            <a:r>
              <a:rPr b="0" i="0" lang="en-US" sz="1600" u="none" cap="none" strike="noStrike">
                <a:solidFill>
                  <a:srgbClr val="E5E7EB"/>
                </a:solidFill>
                <a:latin typeface="Consolas"/>
                <a:ea typeface="Consolas"/>
                <a:cs typeface="Consolas"/>
                <a:sym typeface="Consolas"/>
              </a:rPr>
              <a:t>      var name="a"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5E7EB"/>
              </a:buClr>
              <a:buSzPts val="1600"/>
              <a:buFont typeface="Consolas"/>
              <a:buNone/>
            </a:pPr>
            <a:r>
              <a:rPr b="0" i="0" lang="en-US" sz="1600" u="none" cap="none" strike="noStrike">
                <a:solidFill>
                  <a:srgbClr val="E5E7EB"/>
                </a:solidFill>
                <a:latin typeface="Consolas"/>
                <a:ea typeface="Consolas"/>
                <a:cs typeface="Consolas"/>
                <a:sym typeface="Consolas"/>
              </a:rPr>
              <a:t>      var name="b"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5E7EB"/>
              </a:buClr>
              <a:buSzPts val="1600"/>
              <a:buFont typeface="Consolas"/>
              <a:buNone/>
            </a:pPr>
            <a:r>
              <a:rPr b="0" i="0" lang="en-US" sz="1600" u="none" cap="none" strike="noStrike">
                <a:solidFill>
                  <a:srgbClr val="E5E7EB"/>
                </a:solidFill>
                <a:latin typeface="Consolas"/>
                <a:ea typeface="Consolas"/>
                <a:cs typeface="Consolas"/>
                <a:sym typeface="Consolas"/>
              </a:rPr>
              <a:t>    }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5E7EB"/>
              </a:buClr>
              <a:buSzPts val="1600"/>
              <a:buFont typeface="Consolas"/>
              <a:buNone/>
            </a:pPr>
            <a:r>
              <a:rPr b="0" i="0" lang="en-US" sz="1600" u="none" cap="none" strike="noStrike">
                <a:solidFill>
                  <a:srgbClr val="E5E7EB"/>
                </a:solidFill>
                <a:latin typeface="Consolas"/>
                <a:ea typeface="Consolas"/>
                <a:cs typeface="Consolas"/>
                <a:sym typeface="Consolas"/>
              </a:rPr>
              <a:t>  }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5E7EB"/>
              </a:buClr>
              <a:buSzPts val="1600"/>
              <a:buFont typeface="Consolas"/>
              <a:buNone/>
            </a:pPr>
            <a:r>
              <a:rPr b="0" i="0" lang="en-US" sz="1600" u="none" cap="none" strike="noStrike">
                <a:solidFill>
                  <a:srgbClr val="E5E7EB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25" name="Google Shape;125;p8"/>
          <p:cNvCxnSpPr/>
          <p:nvPr/>
        </p:nvCxnSpPr>
        <p:spPr>
          <a:xfrm>
            <a:off x="548640" y="6355080"/>
            <a:ext cx="11094415" cy="0"/>
          </a:xfrm>
          <a:prstGeom prst="straightConnector1">
            <a:avLst/>
          </a:prstGeom>
          <a:noFill/>
          <a:ln cap="flat" cmpd="sng" w="12700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26" name="Google Shape;126;p8"/>
          <p:cNvSpPr/>
          <p:nvPr/>
        </p:nvSpPr>
        <p:spPr>
          <a:xfrm>
            <a:off x="548640" y="6446520"/>
            <a:ext cx="11094415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1400"/>
              <a:buFont typeface="Meiryo"/>
              <a:buNone/>
            </a:pPr>
            <a:r>
              <a:rPr b="0" i="0" lang="en-US" sz="1400" u="none" cap="none" strike="noStrike">
                <a:solidFill>
                  <a:srgbClr val="4B5563"/>
                </a:solidFill>
                <a:latin typeface="Meiryo"/>
                <a:ea typeface="Meiryo"/>
                <a:cs typeface="Meiryo"/>
                <a:sym typeface="Meiryo"/>
              </a:rPr>
              <a:t>TreeP / 10 slides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9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0D47A1"/>
          </a:solidFill>
          <a:ln cap="flat" cmpd="sng" w="12700">
            <a:solidFill>
              <a:srgbClr val="0D47A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p9"/>
          <p:cNvSpPr/>
          <p:nvPr/>
        </p:nvSpPr>
        <p:spPr>
          <a:xfrm>
            <a:off x="548640" y="109728"/>
            <a:ext cx="10362895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Meiryo"/>
              <a:buNone/>
            </a:pPr>
            <a:r>
              <a:rPr b="1" i="0" lang="en-US" sz="2400" u="none" cap="none" strike="noStrike">
                <a:solidFill>
                  <a:srgbClr val="FFFFFF"/>
                </a:solidFill>
                <a:latin typeface="Meiryo"/>
                <a:ea typeface="Meiryo"/>
                <a:cs typeface="Meiryo"/>
                <a:sym typeface="Meiryo"/>
              </a:rPr>
              <a:t>マクロ：Lispっぽさ、でも型安全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mnt/data/wand.png" id="134" name="Google Shape;134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201400" y="91440"/>
            <a:ext cx="411480" cy="411480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p9"/>
          <p:cNvSpPr/>
          <p:nvPr/>
        </p:nvSpPr>
        <p:spPr>
          <a:xfrm>
            <a:off x="822960" y="914400"/>
            <a:ext cx="109728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3400"/>
              <a:buFont typeface="Meiryo"/>
              <a:buNone/>
            </a:pPr>
            <a:r>
              <a:rPr b="1" i="0" lang="en-US" sz="3400" u="none" cap="none" strike="noStrike">
                <a:solidFill>
                  <a:srgbClr val="111827"/>
                </a:solidFill>
                <a:latin typeface="Meiryo"/>
                <a:ea typeface="Meiryo"/>
                <a:cs typeface="Meiryo"/>
                <a:sym typeface="Meiryo"/>
              </a:rPr>
              <a:t>ユーザー定義マクロ（例：unless）</a:t>
            </a:r>
            <a:endParaRPr b="0" i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9"/>
          <p:cNvSpPr/>
          <p:nvPr/>
        </p:nvSpPr>
        <p:spPr>
          <a:xfrm>
            <a:off x="822960" y="1691640"/>
            <a:ext cx="5669280" cy="2057400"/>
          </a:xfrm>
          <a:prstGeom prst="roundRect">
            <a:avLst>
              <a:gd fmla="val 16667" name="adj"/>
            </a:avLst>
          </a:prstGeom>
          <a:solidFill>
            <a:srgbClr val="0B1020"/>
          </a:solidFill>
          <a:ln cap="flat" cmpd="sng" w="12700">
            <a:solidFill>
              <a:srgbClr val="0B1020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2700000" dist="25400">
              <a:srgbClr val="000000">
                <a:alpha val="1764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p9"/>
          <p:cNvSpPr/>
          <p:nvPr/>
        </p:nvSpPr>
        <p:spPr>
          <a:xfrm>
            <a:off x="1051560" y="1874520"/>
            <a:ext cx="5212080" cy="1691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5E7EB"/>
              </a:buClr>
              <a:buSzPts val="1600"/>
              <a:buFont typeface="Consolas"/>
              <a:buNone/>
            </a:pPr>
            <a:r>
              <a:rPr b="0" i="0" lang="en-US" sz="1600" u="none" cap="none" strike="noStrike">
                <a:solidFill>
                  <a:srgbClr val="E5E7EB"/>
                </a:solidFill>
                <a:latin typeface="Consolas"/>
                <a:ea typeface="Consolas"/>
                <a:cs typeface="Consolas"/>
                <a:sym typeface="Consolas"/>
              </a:rPr>
              <a:t>macro unless {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5E7EB"/>
              </a:buClr>
              <a:buSzPts val="1600"/>
              <a:buFont typeface="Consolas"/>
              <a:buNone/>
            </a:pPr>
            <a:r>
              <a:rPr b="0" i="0" lang="en-US" sz="1600" u="none" cap="none" strike="noStrike">
                <a:solidFill>
                  <a:srgbClr val="E5E7EB"/>
                </a:solidFill>
                <a:latin typeface="Consolas"/>
                <a:ea typeface="Consolas"/>
                <a:cs typeface="Consolas"/>
                <a:sym typeface="Consolas"/>
              </a:rPr>
              <a:t>  pattern: unless($cond) { $body }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5E7EB"/>
              </a:buClr>
              <a:buSzPts val="1600"/>
              <a:buFont typeface="Consolas"/>
              <a:buNone/>
            </a:pPr>
            <a:r>
              <a:rPr b="0" i="0" lang="en-US" sz="1600" u="none" cap="none" strike="noStrike">
                <a:solidFill>
                  <a:srgbClr val="E5E7EB"/>
                </a:solidFill>
                <a:latin typeface="Consolas"/>
                <a:ea typeface="Consolas"/>
                <a:cs typeface="Consolas"/>
                <a:sym typeface="Consolas"/>
              </a:rPr>
              <a:t>  expand: {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5E7EB"/>
              </a:buClr>
              <a:buSzPts val="1600"/>
              <a:buFont typeface="Consolas"/>
              <a:buNone/>
            </a:pPr>
            <a:r>
              <a:rPr b="0" i="0" lang="en-US" sz="1600" u="none" cap="none" strike="noStrike">
                <a:solidFill>
                  <a:srgbClr val="E5E7EB"/>
                </a:solidFill>
                <a:latin typeface="Consolas"/>
                <a:ea typeface="Consolas"/>
                <a:cs typeface="Consolas"/>
                <a:sym typeface="Consolas"/>
              </a:rPr>
              <a:t>    if (!$cond) {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5E7EB"/>
              </a:buClr>
              <a:buSzPts val="1600"/>
              <a:buFont typeface="Consolas"/>
              <a:buNone/>
            </a:pPr>
            <a:r>
              <a:rPr b="0" i="0" lang="en-US" sz="1600" u="none" cap="none" strike="noStrike">
                <a:solidFill>
                  <a:srgbClr val="E5E7EB"/>
                </a:solidFill>
                <a:latin typeface="Consolas"/>
                <a:ea typeface="Consolas"/>
                <a:cs typeface="Consolas"/>
                <a:sym typeface="Consolas"/>
              </a:rPr>
              <a:t>      $body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5E7EB"/>
              </a:buClr>
              <a:buSzPts val="1600"/>
              <a:buFont typeface="Consolas"/>
              <a:buNone/>
            </a:pPr>
            <a:r>
              <a:rPr b="0" i="0" lang="en-US" sz="1600" u="none" cap="none" strike="noStrike">
                <a:solidFill>
                  <a:srgbClr val="E5E7EB"/>
                </a:solidFill>
                <a:latin typeface="Consolas"/>
                <a:ea typeface="Consolas"/>
                <a:cs typeface="Consolas"/>
                <a:sym typeface="Consolas"/>
              </a:rPr>
              <a:t>    }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5E7EB"/>
              </a:buClr>
              <a:buSzPts val="1600"/>
              <a:buFont typeface="Consolas"/>
              <a:buNone/>
            </a:pPr>
            <a:r>
              <a:rPr b="0" i="0" lang="en-US" sz="1600" u="none" cap="none" strike="noStrike">
                <a:solidFill>
                  <a:srgbClr val="E5E7EB"/>
                </a:solidFill>
                <a:latin typeface="Consolas"/>
                <a:ea typeface="Consolas"/>
                <a:cs typeface="Consolas"/>
                <a:sym typeface="Consolas"/>
              </a:rPr>
              <a:t>  }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5E7EB"/>
              </a:buClr>
              <a:buSzPts val="1600"/>
              <a:buFont typeface="Consolas"/>
              <a:buNone/>
            </a:pPr>
            <a:r>
              <a:rPr b="0" i="0" lang="en-US" sz="1600" u="none" cap="none" strike="noStrike">
                <a:solidFill>
                  <a:srgbClr val="E5E7EB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9"/>
          <p:cNvSpPr/>
          <p:nvPr/>
        </p:nvSpPr>
        <p:spPr>
          <a:xfrm>
            <a:off x="6720840" y="1691640"/>
            <a:ext cx="4572000" cy="2057400"/>
          </a:xfrm>
          <a:prstGeom prst="roundRect">
            <a:avLst>
              <a:gd fmla="val 16667" name="adj"/>
            </a:avLst>
          </a:prstGeom>
          <a:solidFill>
            <a:srgbClr val="E3F2FD"/>
          </a:solidFill>
          <a:ln cap="flat" cmpd="sng" w="12700">
            <a:solidFill>
              <a:srgbClr val="BBDEF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p9"/>
          <p:cNvSpPr/>
          <p:nvPr/>
        </p:nvSpPr>
        <p:spPr>
          <a:xfrm>
            <a:off x="6949440" y="1874520"/>
            <a:ext cx="42062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2400"/>
              <a:buFont typeface="Meiryo"/>
              <a:buNone/>
            </a:pPr>
            <a:r>
              <a:rPr b="1" i="0" lang="en-US" sz="2400" u="none" cap="none" strike="noStrike">
                <a:solidFill>
                  <a:srgbClr val="111827"/>
                </a:solidFill>
                <a:latin typeface="Meiryo"/>
                <a:ea typeface="Meiryo"/>
                <a:cs typeface="Meiryo"/>
                <a:sym typeface="Meiryo"/>
              </a:rPr>
              <a:t>仕組み（ざっくり）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9"/>
          <p:cNvSpPr/>
          <p:nvPr/>
        </p:nvSpPr>
        <p:spPr>
          <a:xfrm>
            <a:off x="6903720" y="2331720"/>
            <a:ext cx="429768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279400" lvl="0" marL="27940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800"/>
              <a:buFont typeface="Meiryo"/>
              <a:buChar char="•"/>
            </a:pPr>
            <a:r>
              <a:rPr b="0" i="0" lang="en-US" sz="1800" u="none" cap="none" strike="noStrike">
                <a:solidFill>
                  <a:srgbClr val="111827"/>
                </a:solidFill>
                <a:latin typeface="Meiryo"/>
                <a:ea typeface="Meiryo"/>
                <a:cs typeface="Meiryo"/>
                <a:sym typeface="Meiryo"/>
              </a:rPr>
              <a:t>パターン変数: $name でキャプチャ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79400" lvl="0" marL="27940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800"/>
              <a:buFont typeface="Meiryo"/>
              <a:buChar char="•"/>
            </a:pPr>
            <a:r>
              <a:rPr b="0" i="0" lang="en-US" sz="1800" u="none" cap="none" strike="noStrike">
                <a:solidFill>
                  <a:srgbClr val="111827"/>
                </a:solidFill>
                <a:latin typeface="Meiryo"/>
                <a:ea typeface="Meiryo"/>
                <a:cs typeface="Meiryo"/>
                <a:sym typeface="Meiryo"/>
              </a:rPr>
              <a:t>展開テンプレ: $name を置換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79400" lvl="0" marL="27940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800"/>
              <a:buFont typeface="Meiryo"/>
              <a:buChar char="•"/>
            </a:pPr>
            <a:r>
              <a:rPr b="0" i="0" lang="en-US" sz="1800" u="none" cap="none" strike="noStrike">
                <a:solidFill>
                  <a:srgbClr val="111827"/>
                </a:solidFill>
                <a:latin typeface="Meiryo"/>
                <a:ea typeface="Meiryo"/>
                <a:cs typeface="Meiryo"/>
                <a:sym typeface="Meiryo"/>
              </a:rPr>
              <a:t>衛生的: gensymで変数捕捉回避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79400" lvl="0" marL="27940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800"/>
              <a:buFont typeface="Meiryo"/>
              <a:buChar char="•"/>
            </a:pPr>
            <a:r>
              <a:rPr b="0" i="0" lang="en-US" sz="1800" u="none" cap="none" strike="noStrike">
                <a:solidFill>
                  <a:srgbClr val="111827"/>
                </a:solidFill>
                <a:latin typeface="Meiryo"/>
                <a:ea typeface="Meiryo"/>
                <a:cs typeface="Meiryo"/>
                <a:sym typeface="Meiryo"/>
              </a:rPr>
              <a:t>型安全: EAST上で展開→型検査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9"/>
          <p:cNvSpPr/>
          <p:nvPr/>
        </p:nvSpPr>
        <p:spPr>
          <a:xfrm>
            <a:off x="822960" y="3977640"/>
            <a:ext cx="10972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2600"/>
              <a:buFont typeface="Meiryo"/>
              <a:buNone/>
            </a:pPr>
            <a:r>
              <a:rPr b="1" i="0" lang="en-US" sz="2600" u="none" cap="none" strike="noStrike">
                <a:solidFill>
                  <a:srgbClr val="111827"/>
                </a:solidFill>
                <a:latin typeface="Meiryo"/>
                <a:ea typeface="Meiryo"/>
                <a:cs typeface="Meiryo"/>
                <a:sym typeface="Meiryo"/>
              </a:rPr>
              <a:t>動作確認済み “9個” の組み込みマクロ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9"/>
          <p:cNvSpPr/>
          <p:nvPr/>
        </p:nvSpPr>
        <p:spPr>
          <a:xfrm>
            <a:off x="914400" y="4526280"/>
            <a:ext cx="1700784" cy="411480"/>
          </a:xfrm>
          <a:prstGeom prst="roundRect">
            <a:avLst>
              <a:gd fmla="val 16667" name="adj"/>
            </a:avLst>
          </a:prstGeom>
          <a:solidFill>
            <a:srgbClr val="0D47A1"/>
          </a:solidFill>
          <a:ln cap="flat" cmpd="sng" w="12700">
            <a:solidFill>
              <a:srgbClr val="0D47A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9"/>
          <p:cNvSpPr/>
          <p:nvPr/>
        </p:nvSpPr>
        <p:spPr>
          <a:xfrm>
            <a:off x="914400" y="4581144"/>
            <a:ext cx="1700784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Meiryo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Meiryo"/>
                <a:ea typeface="Meiryo"/>
                <a:cs typeface="Meiryo"/>
                <a:sym typeface="Meiryo"/>
              </a:rPr>
              <a:t>assert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9"/>
          <p:cNvSpPr/>
          <p:nvPr/>
        </p:nvSpPr>
        <p:spPr>
          <a:xfrm>
            <a:off x="2779776" y="4526280"/>
            <a:ext cx="1554480" cy="411480"/>
          </a:xfrm>
          <a:prstGeom prst="roundRect">
            <a:avLst>
              <a:gd fmla="val 16667" name="adj"/>
            </a:avLst>
          </a:prstGeom>
          <a:solidFill>
            <a:srgbClr val="1B5E20"/>
          </a:solidFill>
          <a:ln cap="flat" cmpd="sng" w="12700">
            <a:solidFill>
              <a:srgbClr val="1B5E2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p9"/>
          <p:cNvSpPr/>
          <p:nvPr/>
        </p:nvSpPr>
        <p:spPr>
          <a:xfrm>
            <a:off x="2779776" y="4581144"/>
            <a:ext cx="15544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Meiryo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Meiryo"/>
                <a:ea typeface="Meiryo"/>
                <a:cs typeface="Meiryo"/>
                <a:sym typeface="Meiryo"/>
              </a:rPr>
              <a:t>debug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9"/>
          <p:cNvSpPr/>
          <p:nvPr/>
        </p:nvSpPr>
        <p:spPr>
          <a:xfrm>
            <a:off x="4498848" y="4526280"/>
            <a:ext cx="1261872" cy="411480"/>
          </a:xfrm>
          <a:prstGeom prst="roundRect">
            <a:avLst>
              <a:gd fmla="val 16667" name="adj"/>
            </a:avLst>
          </a:prstGeom>
          <a:solidFill>
            <a:srgbClr val="0D47A1"/>
          </a:solidFill>
          <a:ln cap="flat" cmpd="sng" w="12700">
            <a:solidFill>
              <a:srgbClr val="0D47A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p9"/>
          <p:cNvSpPr/>
          <p:nvPr/>
        </p:nvSpPr>
        <p:spPr>
          <a:xfrm>
            <a:off x="4498848" y="4581144"/>
            <a:ext cx="1261872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Meiryo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Meiryo"/>
                <a:ea typeface="Meiryo"/>
                <a:cs typeface="Meiryo"/>
                <a:sym typeface="Meiryo"/>
              </a:rPr>
              <a:t>log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9"/>
          <p:cNvSpPr/>
          <p:nvPr/>
        </p:nvSpPr>
        <p:spPr>
          <a:xfrm>
            <a:off x="5925312" y="4526280"/>
            <a:ext cx="1554480" cy="411480"/>
          </a:xfrm>
          <a:prstGeom prst="roundRect">
            <a:avLst>
              <a:gd fmla="val 16667" name="adj"/>
            </a:avLst>
          </a:prstGeom>
          <a:solidFill>
            <a:srgbClr val="1B5E20"/>
          </a:solidFill>
          <a:ln cap="flat" cmpd="sng" w="12700">
            <a:solidFill>
              <a:srgbClr val="1B5E2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" name="Google Shape;149;p9"/>
          <p:cNvSpPr/>
          <p:nvPr/>
        </p:nvSpPr>
        <p:spPr>
          <a:xfrm>
            <a:off x="5925312" y="4581144"/>
            <a:ext cx="15544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Meiryo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Meiryo"/>
                <a:ea typeface="Meiryo"/>
                <a:cs typeface="Meiryo"/>
                <a:sym typeface="Meiryo"/>
              </a:rPr>
              <a:t>trace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9"/>
          <p:cNvSpPr/>
          <p:nvPr/>
        </p:nvSpPr>
        <p:spPr>
          <a:xfrm>
            <a:off x="7644384" y="4526280"/>
            <a:ext cx="1847088" cy="411480"/>
          </a:xfrm>
          <a:prstGeom prst="roundRect">
            <a:avLst>
              <a:gd fmla="val 16667" name="adj"/>
            </a:avLst>
          </a:prstGeom>
          <a:solidFill>
            <a:srgbClr val="0D47A1"/>
          </a:solidFill>
          <a:ln cap="flat" cmpd="sng" w="12700">
            <a:solidFill>
              <a:srgbClr val="0D47A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9"/>
          <p:cNvSpPr/>
          <p:nvPr/>
        </p:nvSpPr>
        <p:spPr>
          <a:xfrm>
            <a:off x="7644384" y="4581144"/>
            <a:ext cx="1847088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Meiryo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Meiryo"/>
                <a:ea typeface="Meiryo"/>
                <a:cs typeface="Meiryo"/>
                <a:sym typeface="Meiryo"/>
              </a:rPr>
              <a:t>inc/dec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9"/>
          <p:cNvSpPr/>
          <p:nvPr/>
        </p:nvSpPr>
        <p:spPr>
          <a:xfrm>
            <a:off x="9656064" y="4526280"/>
            <a:ext cx="1700784" cy="411480"/>
          </a:xfrm>
          <a:prstGeom prst="roundRect">
            <a:avLst>
              <a:gd fmla="val 16667" name="adj"/>
            </a:avLst>
          </a:prstGeom>
          <a:solidFill>
            <a:srgbClr val="1B5E20"/>
          </a:solidFill>
          <a:ln cap="flat" cmpd="sng" w="12700">
            <a:solidFill>
              <a:srgbClr val="1B5E2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p9"/>
          <p:cNvSpPr/>
          <p:nvPr/>
        </p:nvSpPr>
        <p:spPr>
          <a:xfrm>
            <a:off x="9656064" y="4581144"/>
            <a:ext cx="1700784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Meiryo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Meiryo"/>
                <a:ea typeface="Meiryo"/>
                <a:cs typeface="Meiryo"/>
                <a:sym typeface="Meiryo"/>
              </a:rPr>
              <a:t>ifZero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9"/>
          <p:cNvSpPr/>
          <p:nvPr/>
        </p:nvSpPr>
        <p:spPr>
          <a:xfrm>
            <a:off x="914400" y="5074920"/>
            <a:ext cx="2286000" cy="411480"/>
          </a:xfrm>
          <a:prstGeom prst="roundRect">
            <a:avLst>
              <a:gd fmla="val 16667" name="adj"/>
            </a:avLst>
          </a:prstGeom>
          <a:solidFill>
            <a:srgbClr val="0D47A1"/>
          </a:solidFill>
          <a:ln cap="flat" cmpd="sng" w="12700">
            <a:solidFill>
              <a:srgbClr val="0D47A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p9"/>
          <p:cNvSpPr/>
          <p:nvPr/>
        </p:nvSpPr>
        <p:spPr>
          <a:xfrm>
            <a:off x="914400" y="5129784"/>
            <a:ext cx="22860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Meiryo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Meiryo"/>
                <a:ea typeface="Meiryo"/>
                <a:cs typeface="Meiryo"/>
                <a:sym typeface="Meiryo"/>
              </a:rPr>
              <a:t>ifPositive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9"/>
          <p:cNvSpPr/>
          <p:nvPr/>
        </p:nvSpPr>
        <p:spPr>
          <a:xfrm>
            <a:off x="3364992" y="5074920"/>
            <a:ext cx="1554480" cy="411480"/>
          </a:xfrm>
          <a:prstGeom prst="roundRect">
            <a:avLst>
              <a:gd fmla="val 16667" name="adj"/>
            </a:avLst>
          </a:prstGeom>
          <a:solidFill>
            <a:srgbClr val="1B5E20"/>
          </a:solidFill>
          <a:ln cap="flat" cmpd="sng" w="12700">
            <a:solidFill>
              <a:srgbClr val="1B5E2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p9"/>
          <p:cNvSpPr/>
          <p:nvPr/>
        </p:nvSpPr>
        <p:spPr>
          <a:xfrm>
            <a:off x="3364992" y="5129784"/>
            <a:ext cx="15544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Meiryo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Meiryo"/>
                <a:ea typeface="Meiryo"/>
                <a:cs typeface="Meiryo"/>
                <a:sym typeface="Meiryo"/>
              </a:rPr>
              <a:t>until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9"/>
          <p:cNvSpPr/>
          <p:nvPr/>
        </p:nvSpPr>
        <p:spPr>
          <a:xfrm>
            <a:off x="5084064" y="5074920"/>
            <a:ext cx="1408176" cy="411480"/>
          </a:xfrm>
          <a:prstGeom prst="roundRect">
            <a:avLst>
              <a:gd fmla="val 16667" name="adj"/>
            </a:avLst>
          </a:prstGeom>
          <a:solidFill>
            <a:srgbClr val="0D47A1"/>
          </a:solidFill>
          <a:ln cap="flat" cmpd="sng" w="12700">
            <a:solidFill>
              <a:srgbClr val="0D47A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p9"/>
          <p:cNvSpPr/>
          <p:nvPr/>
        </p:nvSpPr>
        <p:spPr>
          <a:xfrm>
            <a:off x="5084064" y="5129784"/>
            <a:ext cx="1408176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Meiryo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Meiryo"/>
                <a:ea typeface="Meiryo"/>
                <a:cs typeface="Meiryo"/>
                <a:sym typeface="Meiryo"/>
              </a:rPr>
              <a:t>when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9"/>
          <p:cNvSpPr/>
          <p:nvPr/>
        </p:nvSpPr>
        <p:spPr>
          <a:xfrm>
            <a:off x="822960" y="5897880"/>
            <a:ext cx="10972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1800"/>
              <a:buFont typeface="Meiryo"/>
              <a:buNone/>
            </a:pPr>
            <a:r>
              <a:rPr b="0" i="1" lang="en-US" sz="1800" u="none" cap="none" strike="noStrike">
                <a:solidFill>
                  <a:srgbClr val="4B5563"/>
                </a:solidFill>
                <a:latin typeface="Meiryo"/>
                <a:ea typeface="Meiryo"/>
                <a:cs typeface="Meiryo"/>
                <a:sym typeface="Meiryo"/>
              </a:rPr>
              <a:t>（“when”はelse無しif。語感だけで勝ち）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61" name="Google Shape;161;p9"/>
          <p:cNvCxnSpPr/>
          <p:nvPr/>
        </p:nvCxnSpPr>
        <p:spPr>
          <a:xfrm>
            <a:off x="548640" y="6355080"/>
            <a:ext cx="11094415" cy="0"/>
          </a:xfrm>
          <a:prstGeom prst="straightConnector1">
            <a:avLst/>
          </a:prstGeom>
          <a:noFill/>
          <a:ln cap="flat" cmpd="sng" w="12700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62" name="Google Shape;162;p9"/>
          <p:cNvSpPr/>
          <p:nvPr/>
        </p:nvSpPr>
        <p:spPr>
          <a:xfrm>
            <a:off x="548640" y="6446520"/>
            <a:ext cx="11094415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1400"/>
              <a:buFont typeface="Meiryo"/>
              <a:buNone/>
            </a:pPr>
            <a:r>
              <a:rPr b="0" i="0" lang="en-US" sz="1400" u="none" cap="none" strike="noStrike">
                <a:solidFill>
                  <a:srgbClr val="4B5563"/>
                </a:solidFill>
                <a:latin typeface="Meiryo"/>
                <a:ea typeface="Meiryo"/>
                <a:cs typeface="Meiryo"/>
                <a:sym typeface="Meiryo"/>
              </a:rPr>
              <a:t>TreeP / 10 slides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10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0D47A1"/>
          </a:solidFill>
          <a:ln cap="flat" cmpd="sng" w="12700">
            <a:solidFill>
              <a:srgbClr val="0D47A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" name="Google Shape;169;p10"/>
          <p:cNvSpPr/>
          <p:nvPr/>
        </p:nvSpPr>
        <p:spPr>
          <a:xfrm>
            <a:off x="548640" y="109728"/>
            <a:ext cx="10362895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Meiryo"/>
              <a:buNone/>
            </a:pPr>
            <a:r>
              <a:rPr b="1" i="0" lang="en-US" sz="2400" u="none" cap="none" strike="noStrike">
                <a:solidFill>
                  <a:srgbClr val="FFFFFF"/>
                </a:solidFill>
                <a:latin typeface="Meiryo"/>
                <a:ea typeface="Meiryo"/>
                <a:cs typeface="Meiryo"/>
                <a:sym typeface="Meiryo"/>
              </a:rPr>
              <a:t>ブロック引数構文：ラムダを“書かせない”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10"/>
          <p:cNvSpPr/>
          <p:nvPr/>
        </p:nvSpPr>
        <p:spPr>
          <a:xfrm>
            <a:off x="822960" y="914400"/>
            <a:ext cx="109728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3400"/>
              <a:buFont typeface="Meiryo"/>
              <a:buNone/>
            </a:pPr>
            <a:r>
              <a:rPr b="1" i="0" lang="en-US" sz="3400" u="none" cap="none" strike="noStrike">
                <a:solidFill>
                  <a:srgbClr val="111827"/>
                </a:solidFill>
                <a:latin typeface="Meiryo"/>
                <a:ea typeface="Meiryo"/>
                <a:cs typeface="Meiryo"/>
                <a:sym typeface="Meiryo"/>
              </a:rPr>
              <a:t>マクロ呼び出しが、読みやすくなるやつ</a:t>
            </a:r>
            <a:endParaRPr b="0" i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10"/>
          <p:cNvSpPr/>
          <p:nvPr/>
        </p:nvSpPr>
        <p:spPr>
          <a:xfrm>
            <a:off x="822960" y="1737360"/>
            <a:ext cx="5394960" cy="3840480"/>
          </a:xfrm>
          <a:prstGeom prst="roundRect">
            <a:avLst>
              <a:gd fmla="val 16667" name="adj"/>
            </a:avLst>
          </a:prstGeom>
          <a:solidFill>
            <a:srgbClr val="F3F4F6"/>
          </a:solidFill>
          <a:ln cap="flat" cmpd="sng" w="12700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" name="Google Shape;172;p10"/>
          <p:cNvSpPr/>
          <p:nvPr/>
        </p:nvSpPr>
        <p:spPr>
          <a:xfrm>
            <a:off x="1051560" y="1874520"/>
            <a:ext cx="4937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2200"/>
              <a:buFont typeface="Meiryo"/>
              <a:buNone/>
            </a:pPr>
            <a:r>
              <a:rPr b="1" i="0" lang="en-US" sz="2200" u="none" cap="none" strike="noStrike">
                <a:solidFill>
                  <a:srgbClr val="111827"/>
                </a:solidFill>
                <a:latin typeface="Meiryo"/>
                <a:ea typeface="Meiryo"/>
                <a:cs typeface="Meiryo"/>
                <a:sym typeface="Meiryo"/>
              </a:rPr>
              <a:t>Before（素直）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10"/>
          <p:cNvSpPr/>
          <p:nvPr/>
        </p:nvSpPr>
        <p:spPr>
          <a:xfrm>
            <a:off x="1051560" y="2240280"/>
            <a:ext cx="4937760" cy="1645920"/>
          </a:xfrm>
          <a:prstGeom prst="roundRect">
            <a:avLst>
              <a:gd fmla="val 16667" name="adj"/>
            </a:avLst>
          </a:prstGeom>
          <a:solidFill>
            <a:srgbClr val="0B1020"/>
          </a:solidFill>
          <a:ln cap="flat" cmpd="sng" w="12700">
            <a:solidFill>
              <a:srgbClr val="0B1020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2700000" dist="25400">
              <a:srgbClr val="000000">
                <a:alpha val="1764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" name="Google Shape;174;p10"/>
          <p:cNvSpPr/>
          <p:nvPr/>
        </p:nvSpPr>
        <p:spPr>
          <a:xfrm>
            <a:off x="1280160" y="2423160"/>
            <a:ext cx="4480560" cy="12801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5E7EB"/>
              </a:buClr>
              <a:buSzPts val="1600"/>
              <a:buFont typeface="Consolas"/>
              <a:buNone/>
            </a:pPr>
            <a:r>
              <a:rPr b="0" i="0" lang="en-US" sz="1600" u="none" cap="none" strike="noStrike">
                <a:solidFill>
                  <a:srgbClr val="E5E7EB"/>
                </a:solidFill>
                <a:latin typeface="Consolas"/>
                <a:ea typeface="Consolas"/>
                <a:cs typeface="Consolas"/>
                <a:sym typeface="Consolas"/>
              </a:rPr>
              <a:t>when(x &gt; 0, () -&gt; {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5E7EB"/>
              </a:buClr>
              <a:buSzPts val="1600"/>
              <a:buFont typeface="Consolas"/>
              <a:buNone/>
            </a:pPr>
            <a:r>
              <a:rPr b="0" i="0" lang="en-US" sz="1600" u="none" cap="none" strike="noStrike">
                <a:solidFill>
                  <a:srgbClr val="E5E7EB"/>
                </a:solidFill>
                <a:latin typeface="Consolas"/>
                <a:ea typeface="Consolas"/>
                <a:cs typeface="Consolas"/>
                <a:sym typeface="Consolas"/>
              </a:rPr>
              <a:t>  println("positive")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5E7EB"/>
              </a:buClr>
              <a:buSzPts val="1600"/>
              <a:buFont typeface="Consolas"/>
              <a:buNone/>
            </a:pPr>
            <a:r>
              <a:rPr b="0" i="0" lang="en-US" sz="1600" u="none" cap="none" strike="noStrike">
                <a:solidFill>
                  <a:srgbClr val="E5E7EB"/>
                </a:solidFill>
                <a:latin typeface="Consolas"/>
                <a:ea typeface="Consolas"/>
                <a:cs typeface="Consolas"/>
                <a:sym typeface="Consolas"/>
              </a:rPr>
              <a:t>})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10"/>
          <p:cNvSpPr/>
          <p:nvPr/>
        </p:nvSpPr>
        <p:spPr>
          <a:xfrm>
            <a:off x="1051560" y="3977640"/>
            <a:ext cx="4937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2200"/>
              <a:buFont typeface="Meiryo"/>
              <a:buNone/>
            </a:pPr>
            <a:r>
              <a:rPr b="1" i="0" lang="en-US" sz="2200" u="none" cap="none" strike="noStrike">
                <a:solidFill>
                  <a:srgbClr val="111827"/>
                </a:solidFill>
                <a:latin typeface="Meiryo"/>
                <a:ea typeface="Meiryo"/>
                <a:cs typeface="Meiryo"/>
                <a:sym typeface="Meiryo"/>
              </a:rPr>
              <a:t>After（気持ちいい）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10"/>
          <p:cNvSpPr/>
          <p:nvPr/>
        </p:nvSpPr>
        <p:spPr>
          <a:xfrm>
            <a:off x="1051560" y="4343400"/>
            <a:ext cx="4937760" cy="1143000"/>
          </a:xfrm>
          <a:prstGeom prst="roundRect">
            <a:avLst>
              <a:gd fmla="val 16667" name="adj"/>
            </a:avLst>
          </a:prstGeom>
          <a:solidFill>
            <a:srgbClr val="0B1020"/>
          </a:solidFill>
          <a:ln cap="flat" cmpd="sng" w="12700">
            <a:solidFill>
              <a:srgbClr val="0B1020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2700000" dist="25400">
              <a:srgbClr val="000000">
                <a:alpha val="1764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" name="Google Shape;177;p10"/>
          <p:cNvSpPr/>
          <p:nvPr/>
        </p:nvSpPr>
        <p:spPr>
          <a:xfrm>
            <a:off x="1280160" y="4526280"/>
            <a:ext cx="4480560" cy="7772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5E7EB"/>
              </a:buClr>
              <a:buSzPts val="1600"/>
              <a:buFont typeface="Consolas"/>
              <a:buNone/>
            </a:pPr>
            <a:r>
              <a:rPr b="0" i="0" lang="en-US" sz="1600" u="none" cap="none" strike="noStrike">
                <a:solidFill>
                  <a:srgbClr val="E5E7EB"/>
                </a:solidFill>
                <a:latin typeface="Consolas"/>
                <a:ea typeface="Consolas"/>
                <a:cs typeface="Consolas"/>
                <a:sym typeface="Consolas"/>
              </a:rPr>
              <a:t>when(x &gt; 0) {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5E7EB"/>
              </a:buClr>
              <a:buSzPts val="1600"/>
              <a:buFont typeface="Consolas"/>
              <a:buNone/>
            </a:pPr>
            <a:r>
              <a:rPr b="0" i="0" lang="en-US" sz="1600" u="none" cap="none" strike="noStrike">
                <a:solidFill>
                  <a:srgbClr val="E5E7EB"/>
                </a:solidFill>
                <a:latin typeface="Consolas"/>
                <a:ea typeface="Consolas"/>
                <a:cs typeface="Consolas"/>
                <a:sym typeface="Consolas"/>
              </a:rPr>
              <a:t>  println("positive")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5E7EB"/>
              </a:buClr>
              <a:buSzPts val="1600"/>
              <a:buFont typeface="Consolas"/>
              <a:buNone/>
            </a:pPr>
            <a:r>
              <a:rPr b="0" i="0" lang="en-US" sz="1600" u="none" cap="none" strike="noStrike">
                <a:solidFill>
                  <a:srgbClr val="E5E7EB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10"/>
          <p:cNvSpPr/>
          <p:nvPr/>
        </p:nvSpPr>
        <p:spPr>
          <a:xfrm>
            <a:off x="6537960" y="1737360"/>
            <a:ext cx="4892040" cy="3840480"/>
          </a:xfrm>
          <a:prstGeom prst="roundRect">
            <a:avLst>
              <a:gd fmla="val 16667" name="adj"/>
            </a:avLst>
          </a:prstGeom>
          <a:solidFill>
            <a:srgbClr val="E8F5E9"/>
          </a:solidFill>
          <a:ln cap="flat" cmpd="sng" w="12700">
            <a:solidFill>
              <a:srgbClr val="C8E6C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" name="Google Shape;179;p10"/>
          <p:cNvSpPr/>
          <p:nvPr/>
        </p:nvSpPr>
        <p:spPr>
          <a:xfrm>
            <a:off x="6766560" y="1874520"/>
            <a:ext cx="44805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2400"/>
              <a:buFont typeface="Meiryo"/>
              <a:buNone/>
            </a:pPr>
            <a:r>
              <a:rPr b="1" i="0" lang="en-US" sz="2400" u="none" cap="none" strike="noStrike">
                <a:solidFill>
                  <a:srgbClr val="111827"/>
                </a:solidFill>
                <a:latin typeface="Meiryo"/>
                <a:ea typeface="Meiryo"/>
                <a:cs typeface="Meiryo"/>
                <a:sym typeface="Meiryo"/>
              </a:rPr>
              <a:t>内部変換（重要）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10"/>
          <p:cNvSpPr/>
          <p:nvPr/>
        </p:nvSpPr>
        <p:spPr>
          <a:xfrm>
            <a:off x="6766560" y="2331720"/>
            <a:ext cx="448056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2200"/>
              <a:buFont typeface="Meiryo"/>
              <a:buNone/>
            </a:pPr>
            <a:r>
              <a:rPr b="0" i="0" lang="en-US" sz="2200" u="none" cap="none" strike="noStrike">
                <a:solidFill>
                  <a:srgbClr val="111827"/>
                </a:solidFill>
                <a:latin typeface="Meiryo"/>
                <a:ea typeface="Meiryo"/>
                <a:cs typeface="Meiryo"/>
                <a:sym typeface="Meiryo"/>
              </a:rPr>
              <a:t>パーサが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2200"/>
              <a:buFont typeface="Meiryo"/>
              <a:buNone/>
            </a:pPr>
            <a:r>
              <a:rPr b="0" i="0" lang="en-US" sz="2200" u="none" cap="none" strike="noStrike">
                <a:solidFill>
                  <a:srgbClr val="111827"/>
                </a:solidFill>
                <a:latin typeface="Meiryo"/>
                <a:ea typeface="Meiryo"/>
                <a:cs typeface="Meiryo"/>
                <a:sym typeface="Meiryo"/>
              </a:rPr>
              <a:t>name(args) { block }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2200"/>
              <a:buFont typeface="Meiryo"/>
              <a:buNone/>
            </a:pPr>
            <a:r>
              <a:rPr b="0" i="0" lang="en-US" sz="2200" u="none" cap="none" strike="noStrike">
                <a:solidFill>
                  <a:srgbClr val="111827"/>
                </a:solidFill>
                <a:latin typeface="Meiryo"/>
                <a:ea typeface="Meiryo"/>
                <a:cs typeface="Meiryo"/>
                <a:sym typeface="Meiryo"/>
              </a:rPr>
              <a:t>を見つけたら…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10"/>
          <p:cNvSpPr/>
          <p:nvPr/>
        </p:nvSpPr>
        <p:spPr>
          <a:xfrm>
            <a:off x="6766560" y="3429000"/>
            <a:ext cx="4526280" cy="1325880"/>
          </a:xfrm>
          <a:prstGeom prst="roundRect">
            <a:avLst>
              <a:gd fmla="val 16667" name="adj"/>
            </a:avLst>
          </a:prstGeom>
          <a:solidFill>
            <a:srgbClr val="0B1020"/>
          </a:solidFill>
          <a:ln cap="flat" cmpd="sng" w="12700">
            <a:solidFill>
              <a:srgbClr val="0B1020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2700000" dist="25400">
              <a:srgbClr val="000000">
                <a:alpha val="1764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" name="Google Shape;182;p10"/>
          <p:cNvSpPr/>
          <p:nvPr/>
        </p:nvSpPr>
        <p:spPr>
          <a:xfrm>
            <a:off x="6995160" y="3611880"/>
            <a:ext cx="4069080" cy="9601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5E7EB"/>
              </a:buClr>
              <a:buSzPts val="1600"/>
              <a:buFont typeface="Consolas"/>
              <a:buNone/>
            </a:pPr>
            <a:r>
              <a:rPr b="0" i="0" lang="en-US" sz="1600" u="none" cap="none" strike="noStrike">
                <a:solidFill>
                  <a:srgbClr val="E5E7EB"/>
                </a:solidFill>
                <a:latin typeface="Consolas"/>
                <a:ea typeface="Consolas"/>
                <a:cs typeface="Consolas"/>
                <a:sym typeface="Consolas"/>
              </a:rPr>
              <a:t>name(args, () -&gt; {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5E7EB"/>
              </a:buClr>
              <a:buSzPts val="1600"/>
              <a:buFont typeface="Consolas"/>
              <a:buNone/>
            </a:pPr>
            <a:r>
              <a:rPr b="0" i="0" lang="en-US" sz="1600" u="none" cap="none" strike="noStrike">
                <a:solidFill>
                  <a:srgbClr val="E5E7EB"/>
                </a:solidFill>
                <a:latin typeface="Consolas"/>
                <a:ea typeface="Consolas"/>
                <a:cs typeface="Consolas"/>
                <a:sym typeface="Consolas"/>
              </a:rPr>
              <a:t>  block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5E7EB"/>
              </a:buClr>
              <a:buSzPts val="1600"/>
              <a:buFont typeface="Consolas"/>
              <a:buNone/>
            </a:pPr>
            <a:r>
              <a:rPr b="0" i="0" lang="en-US" sz="1600" u="none" cap="none" strike="noStrike">
                <a:solidFill>
                  <a:srgbClr val="E5E7EB"/>
                </a:solidFill>
                <a:latin typeface="Consolas"/>
                <a:ea typeface="Consolas"/>
                <a:cs typeface="Consolas"/>
                <a:sym typeface="Consolas"/>
              </a:rPr>
              <a:t>})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10"/>
          <p:cNvSpPr/>
          <p:nvPr/>
        </p:nvSpPr>
        <p:spPr>
          <a:xfrm>
            <a:off x="6766560" y="4846320"/>
            <a:ext cx="45720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2000"/>
              <a:buFont typeface="Meiryo"/>
              <a:buNone/>
            </a:pPr>
            <a:r>
              <a:rPr b="0" i="0" lang="en-US" sz="2000" u="none" cap="none" strike="noStrike">
                <a:solidFill>
                  <a:srgbClr val="111827"/>
                </a:solidFill>
                <a:latin typeface="Meiryo"/>
                <a:ea typeface="Meiryo"/>
                <a:cs typeface="Meiryo"/>
                <a:sym typeface="Meiryo"/>
              </a:rPr>
              <a:t>に正規化する。マクロ側は「ただの関数呼び出し」扱いでOK。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10"/>
          <p:cNvSpPr/>
          <p:nvPr/>
        </p:nvSpPr>
        <p:spPr>
          <a:xfrm>
            <a:off x="822960" y="5806440"/>
            <a:ext cx="10972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B8C00"/>
              </a:buClr>
              <a:buSzPts val="1800"/>
              <a:buFont typeface="Meiryo"/>
              <a:buNone/>
            </a:pPr>
            <a:r>
              <a:rPr b="0" i="1" lang="en-US" sz="1800" u="none" cap="none" strike="noStrike">
                <a:solidFill>
                  <a:srgbClr val="FB8C00"/>
                </a:solidFill>
                <a:latin typeface="Meiryo"/>
                <a:ea typeface="Meiryo"/>
                <a:cs typeface="Meiryo"/>
                <a:sym typeface="Meiryo"/>
              </a:rPr>
              <a:t>※ただし：ブロックは内部的にラムダなので、returnの挙動に制限あり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85" name="Google Shape;185;p10"/>
          <p:cNvCxnSpPr/>
          <p:nvPr/>
        </p:nvCxnSpPr>
        <p:spPr>
          <a:xfrm>
            <a:off x="548640" y="6355080"/>
            <a:ext cx="11094415" cy="0"/>
          </a:xfrm>
          <a:prstGeom prst="straightConnector1">
            <a:avLst/>
          </a:prstGeom>
          <a:noFill/>
          <a:ln cap="flat" cmpd="sng" w="12700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86" name="Google Shape;186;p10"/>
          <p:cNvSpPr/>
          <p:nvPr/>
        </p:nvSpPr>
        <p:spPr>
          <a:xfrm>
            <a:off x="548640" y="6446520"/>
            <a:ext cx="11094415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1400"/>
              <a:buFont typeface="Meiryo"/>
              <a:buNone/>
            </a:pPr>
            <a:r>
              <a:rPr b="0" i="0" lang="en-US" sz="1400" u="none" cap="none" strike="noStrike">
                <a:solidFill>
                  <a:srgbClr val="4B5563"/>
                </a:solidFill>
                <a:latin typeface="Meiryo"/>
                <a:ea typeface="Meiryo"/>
                <a:cs typeface="Meiryo"/>
                <a:sym typeface="Meiryo"/>
              </a:rPr>
              <a:t>TreeP / 10 slides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11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0D47A1"/>
          </a:solidFill>
          <a:ln cap="flat" cmpd="sng" w="12700">
            <a:solidFill>
              <a:srgbClr val="0D47A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" name="Google Shape;193;p11"/>
          <p:cNvSpPr/>
          <p:nvPr/>
        </p:nvSpPr>
        <p:spPr>
          <a:xfrm>
            <a:off x="548640" y="109728"/>
            <a:ext cx="10362895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Meiryo"/>
              <a:buNone/>
            </a:pPr>
            <a:r>
              <a:rPr b="1" i="0" lang="en-US" sz="2400" u="none" cap="none" strike="noStrike">
                <a:solidFill>
                  <a:srgbClr val="FFFFFF"/>
                </a:solidFill>
                <a:latin typeface="Meiryo"/>
                <a:ea typeface="Meiryo"/>
                <a:cs typeface="Meiryo"/>
                <a:sym typeface="Meiryo"/>
              </a:rPr>
              <a:t>型推論：Hindley–Milner（Algorithm W）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11"/>
          <p:cNvSpPr/>
          <p:nvPr/>
        </p:nvSpPr>
        <p:spPr>
          <a:xfrm>
            <a:off x="822960" y="914400"/>
            <a:ext cx="109728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3400"/>
              <a:buFont typeface="Meiryo"/>
              <a:buNone/>
            </a:pPr>
            <a:r>
              <a:rPr b="1" i="0" lang="en-US" sz="3400" u="none" cap="none" strike="noStrike">
                <a:solidFill>
                  <a:srgbClr val="111827"/>
                </a:solidFill>
                <a:latin typeface="Meiryo"/>
                <a:ea typeface="Meiryo"/>
                <a:cs typeface="Meiryo"/>
                <a:sym typeface="Meiryo"/>
              </a:rPr>
              <a:t>型注釈、必要なときだけ“出社”</a:t>
            </a:r>
            <a:endParaRPr b="0" i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11"/>
          <p:cNvSpPr/>
          <p:nvPr/>
        </p:nvSpPr>
        <p:spPr>
          <a:xfrm>
            <a:off x="822960" y="1463040"/>
            <a:ext cx="10972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2400"/>
              <a:buFont typeface="Meiryo"/>
              <a:buNone/>
            </a:pPr>
            <a:r>
              <a:rPr b="0" i="0" lang="en-US" sz="2400" u="none" cap="none" strike="noStrike">
                <a:solidFill>
                  <a:srgbClr val="4B5563"/>
                </a:solidFill>
                <a:latin typeface="Meiryo"/>
                <a:ea typeface="Meiryo"/>
                <a:cs typeface="Meiryo"/>
                <a:sym typeface="Meiryo"/>
              </a:rPr>
              <a:t>→ 関数の引数/戻り値を使用箇所から推論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11"/>
          <p:cNvSpPr/>
          <p:nvPr/>
        </p:nvSpPr>
        <p:spPr>
          <a:xfrm>
            <a:off x="822960" y="2057400"/>
            <a:ext cx="5897880" cy="2011680"/>
          </a:xfrm>
          <a:prstGeom prst="roundRect">
            <a:avLst>
              <a:gd fmla="val 16667" name="adj"/>
            </a:avLst>
          </a:prstGeom>
          <a:solidFill>
            <a:srgbClr val="0B1020"/>
          </a:solidFill>
          <a:ln cap="flat" cmpd="sng" w="12700">
            <a:solidFill>
              <a:srgbClr val="0B1020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2700000" dist="25400">
              <a:srgbClr val="000000">
                <a:alpha val="1764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" name="Google Shape;197;p11"/>
          <p:cNvSpPr/>
          <p:nvPr/>
        </p:nvSpPr>
        <p:spPr>
          <a:xfrm>
            <a:off x="1051560" y="2240280"/>
            <a:ext cx="5440680" cy="1645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5E7EB"/>
              </a:buClr>
              <a:buSzPts val="1600"/>
              <a:buFont typeface="Consolas"/>
              <a:buNone/>
            </a:pPr>
            <a:r>
              <a:rPr b="0" i="0" lang="en-US" sz="1600" u="none" cap="none" strike="noStrike">
                <a:solidFill>
                  <a:srgbClr val="E5E7EB"/>
                </a:solidFill>
                <a:latin typeface="Consolas"/>
                <a:ea typeface="Consolas"/>
                <a:cs typeface="Consolas"/>
                <a:sym typeface="Consolas"/>
              </a:rPr>
              <a:t>def add(x, y) {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5E7EB"/>
              </a:buClr>
              <a:buSzPts val="1600"/>
              <a:buFont typeface="Consolas"/>
              <a:buNone/>
            </a:pPr>
            <a:r>
              <a:rPr b="0" i="0" lang="en-US" sz="1600" u="none" cap="none" strike="noStrike">
                <a:solidFill>
                  <a:srgbClr val="E5E7EB"/>
                </a:solidFill>
                <a:latin typeface="Consolas"/>
                <a:ea typeface="Consolas"/>
                <a:cs typeface="Consolas"/>
                <a:sym typeface="Consolas"/>
              </a:rPr>
              <a:t>  return x + y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5E7EB"/>
              </a:buClr>
              <a:buSzPts val="1600"/>
              <a:buFont typeface="Consolas"/>
              <a:buNone/>
            </a:pPr>
            <a:r>
              <a:rPr b="0" i="0" lang="en-US" sz="1600" u="none" cap="none" strike="noStrike">
                <a:solidFill>
                  <a:srgbClr val="E5E7EB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5E7EB"/>
              </a:buClr>
              <a:buSzPts val="1600"/>
              <a:buFont typeface="Consolas"/>
              <a:buNone/>
            </a:pPr>
            <a:r>
              <a:rPr b="0" i="0" lang="en-US" sz="1600" u="none" cap="none" strike="noStrike">
                <a:solidFill>
                  <a:srgbClr val="E5E7EB"/>
                </a:solidFill>
                <a:latin typeface="Consolas"/>
                <a:ea typeface="Consolas"/>
                <a:cs typeface="Consolas"/>
                <a:sym typeface="Consolas"/>
              </a:rPr>
              <a:t>// x,y : Int  /  returns : Int と推論される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5E7EB"/>
              </a:buClr>
              <a:buSzPts val="1600"/>
              <a:buFont typeface="Consolas"/>
              <a:buNone/>
            </a:pPr>
            <a:r>
              <a:rPr b="0" i="0" lang="en-US" sz="1600" u="none" cap="none" strike="noStrike">
                <a:solidFill>
                  <a:srgbClr val="E5E7EB"/>
                </a:solidFill>
                <a:latin typeface="Consolas"/>
                <a:ea typeface="Consolas"/>
                <a:cs typeface="Consolas"/>
                <a:sym typeface="Consolas"/>
              </a:rPr>
              <a:t>def main() returns: Int {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5E7EB"/>
              </a:buClr>
              <a:buSzPts val="1600"/>
              <a:buFont typeface="Consolas"/>
              <a:buNone/>
            </a:pPr>
            <a:r>
              <a:rPr b="0" i="0" lang="en-US" sz="1600" u="none" cap="none" strike="noStrike">
                <a:solidFill>
                  <a:srgbClr val="E5E7EB"/>
                </a:solidFill>
                <a:latin typeface="Consolas"/>
                <a:ea typeface="Consolas"/>
                <a:cs typeface="Consolas"/>
                <a:sym typeface="Consolas"/>
              </a:rPr>
              <a:t>  let r = add(10, 20)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5E7EB"/>
              </a:buClr>
              <a:buSzPts val="1600"/>
              <a:buFont typeface="Consolas"/>
              <a:buNone/>
            </a:pPr>
            <a:r>
              <a:rPr b="0" i="0" lang="en-US" sz="1600" u="none" cap="none" strike="noStrike">
                <a:solidFill>
                  <a:srgbClr val="E5E7EB"/>
                </a:solidFill>
                <a:latin typeface="Consolas"/>
                <a:ea typeface="Consolas"/>
                <a:cs typeface="Consolas"/>
                <a:sym typeface="Consolas"/>
              </a:rPr>
              <a:t>  println(r)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5E7EB"/>
              </a:buClr>
              <a:buSzPts val="1600"/>
              <a:buFont typeface="Consolas"/>
              <a:buNone/>
            </a:pPr>
            <a:r>
              <a:rPr b="0" i="0" lang="en-US" sz="1600" u="none" cap="none" strike="noStrike">
                <a:solidFill>
                  <a:srgbClr val="E5E7EB"/>
                </a:solidFill>
                <a:latin typeface="Consolas"/>
                <a:ea typeface="Consolas"/>
                <a:cs typeface="Consolas"/>
                <a:sym typeface="Consolas"/>
              </a:rPr>
              <a:t>  return 0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5E7EB"/>
              </a:buClr>
              <a:buSzPts val="1600"/>
              <a:buFont typeface="Consolas"/>
              <a:buNone/>
            </a:pPr>
            <a:r>
              <a:rPr b="0" i="0" lang="en-US" sz="1600" u="none" cap="none" strike="noStrike">
                <a:solidFill>
                  <a:srgbClr val="E5E7EB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11"/>
          <p:cNvSpPr/>
          <p:nvPr/>
        </p:nvSpPr>
        <p:spPr>
          <a:xfrm>
            <a:off x="6949440" y="2057400"/>
            <a:ext cx="4434840" cy="2011680"/>
          </a:xfrm>
          <a:prstGeom prst="roundRect">
            <a:avLst>
              <a:gd fmla="val 16667" name="adj"/>
            </a:avLst>
          </a:prstGeom>
          <a:solidFill>
            <a:srgbClr val="E3F2FD"/>
          </a:solidFill>
          <a:ln cap="flat" cmpd="sng" w="12700">
            <a:solidFill>
              <a:srgbClr val="BBDEF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" name="Google Shape;199;p11"/>
          <p:cNvSpPr/>
          <p:nvPr/>
        </p:nvSpPr>
        <p:spPr>
          <a:xfrm>
            <a:off x="7178040" y="2240280"/>
            <a:ext cx="40233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2400"/>
              <a:buFont typeface="Meiryo"/>
              <a:buNone/>
            </a:pPr>
            <a:r>
              <a:rPr b="1" i="0" lang="en-US" sz="2400" u="none" cap="none" strike="noStrike">
                <a:solidFill>
                  <a:srgbClr val="111827"/>
                </a:solidFill>
                <a:latin typeface="Meiryo"/>
                <a:ea typeface="Meiryo"/>
                <a:cs typeface="Meiryo"/>
                <a:sym typeface="Meiryo"/>
              </a:rPr>
              <a:t>サポート例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11"/>
          <p:cNvSpPr/>
          <p:nvPr/>
        </p:nvSpPr>
        <p:spPr>
          <a:xfrm>
            <a:off x="7178040" y="2651760"/>
            <a:ext cx="4023360" cy="1280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279400" lvl="0" marL="27940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800"/>
              <a:buFont typeface="Meiryo"/>
              <a:buChar char="•"/>
            </a:pPr>
            <a:r>
              <a:rPr b="0" i="0" lang="en-US" sz="1800" u="none" cap="none" strike="noStrike">
                <a:solidFill>
                  <a:srgbClr val="111827"/>
                </a:solidFill>
                <a:latin typeface="Meiryo"/>
                <a:ea typeface="Meiryo"/>
                <a:cs typeface="Meiryo"/>
                <a:sym typeface="Meiryo"/>
              </a:rPr>
              <a:t>List[A], Dict[K,V], Iter[T]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79400" lvl="0" marL="27940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800"/>
              <a:buFont typeface="Meiryo"/>
              <a:buChar char="•"/>
            </a:pPr>
            <a:r>
              <a:rPr b="0" i="0" lang="en-US" sz="1800" u="none" cap="none" strike="noStrike">
                <a:solidFill>
                  <a:srgbClr val="111827"/>
                </a:solidFill>
                <a:latin typeface="Meiryo"/>
                <a:ea typeface="Meiryo"/>
                <a:cs typeface="Meiryo"/>
                <a:sym typeface="Meiryo"/>
              </a:rPr>
              <a:t>タプル (A,B)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79400" lvl="0" marL="27940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800"/>
              <a:buFont typeface="Meiryo"/>
              <a:buChar char="•"/>
            </a:pPr>
            <a:r>
              <a:rPr b="0" i="0" lang="en-US" sz="1800" u="none" cap="none" strike="noStrike">
                <a:solidFill>
                  <a:srgbClr val="111827"/>
                </a:solidFill>
                <a:latin typeface="Meiryo"/>
                <a:ea typeface="Meiryo"/>
                <a:cs typeface="Meiryo"/>
                <a:sym typeface="Meiryo"/>
              </a:rPr>
              <a:t>関数型 T1 -&gt; T2（右結合）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79400" lvl="0" marL="27940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800"/>
              <a:buFont typeface="Meiryo"/>
              <a:buChar char="•"/>
            </a:pPr>
            <a:r>
              <a:rPr b="0" i="0" lang="en-US" sz="1800" u="none" cap="none" strike="noStrike">
                <a:solidFill>
                  <a:srgbClr val="111827"/>
                </a:solidFill>
                <a:latin typeface="Meiryo"/>
                <a:ea typeface="Meiryo"/>
                <a:cs typeface="Meiryo"/>
                <a:sym typeface="Meiryo"/>
              </a:rPr>
              <a:t>拡張メソッドも推論に統合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11"/>
          <p:cNvSpPr/>
          <p:nvPr/>
        </p:nvSpPr>
        <p:spPr>
          <a:xfrm>
            <a:off x="822960" y="4343400"/>
            <a:ext cx="10561320" cy="1325880"/>
          </a:xfrm>
          <a:prstGeom prst="roundRect">
            <a:avLst>
              <a:gd fmla="val 16667" name="adj"/>
            </a:avLst>
          </a:prstGeom>
          <a:solidFill>
            <a:srgbClr val="FFF3E0"/>
          </a:solidFill>
          <a:ln cap="flat" cmpd="sng" w="12700">
            <a:solidFill>
              <a:srgbClr val="FFE0B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" name="Google Shape;202;p11"/>
          <p:cNvSpPr/>
          <p:nvPr/>
        </p:nvSpPr>
        <p:spPr>
          <a:xfrm>
            <a:off x="1051560" y="4617720"/>
            <a:ext cx="100584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2400"/>
              <a:buFont typeface="Meiryo"/>
              <a:buNone/>
            </a:pPr>
            <a:r>
              <a:rPr b="1" i="0" lang="en-US" sz="2400" u="none" cap="none" strike="noStrike">
                <a:solidFill>
                  <a:srgbClr val="111827"/>
                </a:solidFill>
                <a:latin typeface="Meiryo"/>
                <a:ea typeface="Meiryo"/>
                <a:cs typeface="Meiryo"/>
                <a:sym typeface="Meiryo"/>
              </a:rPr>
              <a:t>Row多相レコードもある： { x: T | ρ } で “フィールド不足OK” なまま扱える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03" name="Google Shape;203;p11"/>
          <p:cNvCxnSpPr/>
          <p:nvPr/>
        </p:nvCxnSpPr>
        <p:spPr>
          <a:xfrm>
            <a:off x="548640" y="6355080"/>
            <a:ext cx="11094415" cy="0"/>
          </a:xfrm>
          <a:prstGeom prst="straightConnector1">
            <a:avLst/>
          </a:prstGeom>
          <a:noFill/>
          <a:ln cap="flat" cmpd="sng" w="12700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04" name="Google Shape;204;p11"/>
          <p:cNvSpPr/>
          <p:nvPr/>
        </p:nvSpPr>
        <p:spPr>
          <a:xfrm>
            <a:off x="548640" y="6446520"/>
            <a:ext cx="11094415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1400"/>
              <a:buFont typeface="Meiryo"/>
              <a:buNone/>
            </a:pPr>
            <a:r>
              <a:rPr b="0" i="0" lang="en-US" sz="1400" u="none" cap="none" strike="noStrike">
                <a:solidFill>
                  <a:srgbClr val="4B5563"/>
                </a:solidFill>
                <a:latin typeface="Meiryo"/>
                <a:ea typeface="Meiryo"/>
                <a:cs typeface="Meiryo"/>
                <a:sym typeface="Meiryo"/>
              </a:rPr>
              <a:t>TreeP / 10 slides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12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0D47A1"/>
          </a:solidFill>
          <a:ln cap="flat" cmpd="sng" w="12700">
            <a:solidFill>
              <a:srgbClr val="0D47A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" name="Google Shape;211;p12"/>
          <p:cNvSpPr/>
          <p:nvPr/>
        </p:nvSpPr>
        <p:spPr>
          <a:xfrm>
            <a:off x="548640" y="109728"/>
            <a:ext cx="10362895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Meiryo"/>
              <a:buNone/>
            </a:pPr>
            <a:r>
              <a:rPr b="1" i="0" lang="en-US" sz="2400" u="none" cap="none" strike="noStrike">
                <a:solidFill>
                  <a:srgbClr val="FFFFFF"/>
                </a:solidFill>
                <a:latin typeface="Meiryo"/>
                <a:ea typeface="Meiryo"/>
                <a:cs typeface="Meiryo"/>
                <a:sym typeface="Meiryo"/>
              </a:rPr>
              <a:t>実用寄りの機能（ミニ言語なのに欲張り）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12"/>
          <p:cNvSpPr/>
          <p:nvPr/>
        </p:nvSpPr>
        <p:spPr>
          <a:xfrm>
            <a:off x="822960" y="914400"/>
            <a:ext cx="109728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3400"/>
              <a:buFont typeface="Meiryo"/>
              <a:buNone/>
            </a:pPr>
            <a:r>
              <a:rPr b="1" i="0" lang="en-US" sz="3400" u="none" cap="none" strike="noStrike">
                <a:solidFill>
                  <a:srgbClr val="111827"/>
                </a:solidFill>
                <a:latin typeface="Meiryo"/>
                <a:ea typeface="Meiryo"/>
                <a:cs typeface="Meiryo"/>
                <a:sym typeface="Meiryo"/>
              </a:rPr>
              <a:t>“教育/実験用途”って言いながら、結構やる</a:t>
            </a:r>
            <a:endParaRPr b="0" i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12"/>
          <p:cNvSpPr/>
          <p:nvPr/>
        </p:nvSpPr>
        <p:spPr>
          <a:xfrm>
            <a:off x="822960" y="1600200"/>
            <a:ext cx="5577840" cy="2377440"/>
          </a:xfrm>
          <a:prstGeom prst="roundRect">
            <a:avLst>
              <a:gd fmla="val 16667" name="adj"/>
            </a:avLst>
          </a:prstGeom>
          <a:solidFill>
            <a:srgbClr val="F3F4F6"/>
          </a:solidFill>
          <a:ln cap="flat" cmpd="sng" w="12700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4" name="Google Shape;214;p12"/>
          <p:cNvSpPr/>
          <p:nvPr/>
        </p:nvSpPr>
        <p:spPr>
          <a:xfrm>
            <a:off x="1097280" y="1828800"/>
            <a:ext cx="5120640" cy="2011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30200" lvl="0" marL="33020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2200"/>
              <a:buFont typeface="Meiryo"/>
              <a:buChar char="•"/>
            </a:pPr>
            <a:r>
              <a:rPr b="0" i="0" lang="en-US" sz="2200" u="none" cap="none" strike="noStrike">
                <a:solidFill>
                  <a:srgbClr val="111827"/>
                </a:solidFill>
                <a:latin typeface="Meiryo"/>
                <a:ea typeface="Meiryo"/>
                <a:cs typeface="Meiryo"/>
                <a:sym typeface="Meiryo"/>
              </a:rPr>
              <a:t>パターンマッチング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30200" lvl="0" marL="33020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2200"/>
              <a:buFont typeface="Meiryo"/>
              <a:buChar char="•"/>
            </a:pPr>
            <a:r>
              <a:rPr b="0" i="0" lang="en-US" sz="2200" u="none" cap="none" strike="noStrike">
                <a:solidFill>
                  <a:srgbClr val="111827"/>
                </a:solidFill>
                <a:latin typeface="Meiryo"/>
                <a:ea typeface="Meiryo"/>
                <a:cs typeface="Meiryo"/>
                <a:sym typeface="Meiryo"/>
              </a:rPr>
              <a:t>イテレータ（Iter[T]）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30200" lvl="0" marL="33020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2200"/>
              <a:buFont typeface="Meiryo"/>
              <a:buChar char="•"/>
            </a:pPr>
            <a:r>
              <a:rPr b="0" i="0" lang="en-US" sz="2200" u="none" cap="none" strike="noStrike">
                <a:solidFill>
                  <a:srgbClr val="111827"/>
                </a:solidFill>
                <a:latin typeface="Meiryo"/>
                <a:ea typeface="Meiryo"/>
                <a:cs typeface="Meiryo"/>
                <a:sym typeface="Meiryo"/>
              </a:rPr>
              <a:t>拡張メソッド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30200" lvl="0" marL="33020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2200"/>
              <a:buFont typeface="Meiryo"/>
              <a:buChar char="•"/>
            </a:pPr>
            <a:r>
              <a:rPr b="0" i="0" lang="en-US" sz="2200" u="none" cap="none" strike="noStrike">
                <a:solidFill>
                  <a:srgbClr val="111827"/>
                </a:solidFill>
                <a:latin typeface="Meiryo"/>
                <a:ea typeface="Meiryo"/>
                <a:cs typeface="Meiryo"/>
                <a:sym typeface="Meiryo"/>
              </a:rPr>
              <a:t>Row多相レコード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30200" lvl="0" marL="33020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2200"/>
              <a:buFont typeface="Meiryo"/>
              <a:buChar char="•"/>
            </a:pPr>
            <a:r>
              <a:rPr b="0" i="0" lang="en-US" sz="2200" u="none" cap="none" strike="noStrike">
                <a:solidFill>
                  <a:srgbClr val="111827"/>
                </a:solidFill>
                <a:latin typeface="Meiryo"/>
                <a:ea typeface="Meiryo"/>
                <a:cs typeface="Meiryo"/>
                <a:sym typeface="Meiryo"/>
              </a:rPr>
              <a:t>組み込みfor糖衣 → while+Iterへ展開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12"/>
          <p:cNvSpPr/>
          <p:nvPr/>
        </p:nvSpPr>
        <p:spPr>
          <a:xfrm>
            <a:off x="6720840" y="1600200"/>
            <a:ext cx="46634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2400"/>
              <a:buFont typeface="Meiryo"/>
              <a:buNone/>
            </a:pPr>
            <a:r>
              <a:rPr b="1" i="0" lang="en-US" sz="2400" u="none" cap="none" strike="noStrike">
                <a:solidFill>
                  <a:srgbClr val="111827"/>
                </a:solidFill>
                <a:latin typeface="Meiryo"/>
                <a:ea typeface="Meiryo"/>
                <a:cs typeface="Meiryo"/>
                <a:sym typeface="Meiryo"/>
              </a:rPr>
              <a:t>辞書＋イテレータの例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12"/>
          <p:cNvSpPr/>
          <p:nvPr/>
        </p:nvSpPr>
        <p:spPr>
          <a:xfrm>
            <a:off x="6720840" y="2011680"/>
            <a:ext cx="4663440" cy="3017520"/>
          </a:xfrm>
          <a:prstGeom prst="roundRect">
            <a:avLst>
              <a:gd fmla="val 16667" name="adj"/>
            </a:avLst>
          </a:prstGeom>
          <a:solidFill>
            <a:srgbClr val="0B1020"/>
          </a:solidFill>
          <a:ln cap="flat" cmpd="sng" w="12700">
            <a:solidFill>
              <a:srgbClr val="0B1020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2700000" dist="25400">
              <a:srgbClr val="000000">
                <a:alpha val="1764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7" name="Google Shape;217;p12"/>
          <p:cNvSpPr/>
          <p:nvPr/>
        </p:nvSpPr>
        <p:spPr>
          <a:xfrm>
            <a:off x="6949440" y="2194560"/>
            <a:ext cx="4206240" cy="2651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5E7EB"/>
              </a:buClr>
              <a:buSzPts val="1600"/>
              <a:buFont typeface="Consolas"/>
              <a:buNone/>
            </a:pPr>
            <a:r>
              <a:rPr b="0" i="0" lang="en-US" sz="1600" u="none" cap="none" strike="noStrike">
                <a:solidFill>
                  <a:srgbClr val="E5E7EB"/>
                </a:solidFill>
                <a:latin typeface="Consolas"/>
                <a:ea typeface="Consolas"/>
                <a:cs typeface="Consolas"/>
                <a:sym typeface="Consolas"/>
              </a:rPr>
              <a:t>const m = { "a": 1, "b": 2 }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5E7EB"/>
              </a:buClr>
              <a:buSzPts val="1600"/>
              <a:buFont typeface="Consolas"/>
              <a:buNone/>
            </a:pPr>
            <a:r>
              <a:rPr b="0" i="0" lang="en-US" sz="1600" u="none" cap="none" strike="noStrike">
                <a:solidFill>
                  <a:srgbClr val="E5E7EB"/>
                </a:solidFill>
                <a:latin typeface="Consolas"/>
                <a:ea typeface="Consolas"/>
                <a:cs typeface="Consolas"/>
                <a:sym typeface="Consolas"/>
              </a:rPr>
              <a:t>def sumDict() returns: Int {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5E7EB"/>
              </a:buClr>
              <a:buSzPts val="1600"/>
              <a:buFont typeface="Consolas"/>
              <a:buNone/>
            </a:pPr>
            <a:r>
              <a:rPr b="0" i="0" lang="en-US" sz="1600" u="none" cap="none" strike="noStrike">
                <a:solidFill>
                  <a:srgbClr val="E5E7EB"/>
                </a:solidFill>
                <a:latin typeface="Consolas"/>
                <a:ea typeface="Consolas"/>
                <a:cs typeface="Consolas"/>
                <a:sym typeface="Consolas"/>
              </a:rPr>
              <a:t>  let s = 0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5E7EB"/>
              </a:buClr>
              <a:buSzPts val="1600"/>
              <a:buFont typeface="Consolas"/>
              <a:buNone/>
            </a:pPr>
            <a:r>
              <a:rPr b="0" i="0" lang="en-US" sz="1600" u="none" cap="none" strike="noStrike">
                <a:solidFill>
                  <a:srgbClr val="E5E7EB"/>
                </a:solidFill>
                <a:latin typeface="Consolas"/>
                <a:ea typeface="Consolas"/>
                <a:cs typeface="Consolas"/>
                <a:sym typeface="Consolas"/>
              </a:rPr>
              <a:t>  for (pair in: m) {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5E7EB"/>
              </a:buClr>
              <a:buSzPts val="1600"/>
              <a:buFont typeface="Consolas"/>
              <a:buNone/>
            </a:pPr>
            <a:r>
              <a:rPr b="0" i="0" lang="en-US" sz="1600" u="none" cap="none" strike="noStrike">
                <a:solidFill>
                  <a:srgbClr val="E5E7EB"/>
                </a:solidFill>
                <a:latin typeface="Consolas"/>
                <a:ea typeface="Consolas"/>
                <a:cs typeface="Consolas"/>
                <a:sym typeface="Consolas"/>
              </a:rPr>
              <a:t>    s = s + snd(pair)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5E7EB"/>
              </a:buClr>
              <a:buSzPts val="1600"/>
              <a:buFont typeface="Consolas"/>
              <a:buNone/>
            </a:pPr>
            <a:r>
              <a:rPr b="0" i="0" lang="en-US" sz="1600" u="none" cap="none" strike="noStrike">
                <a:solidFill>
                  <a:srgbClr val="E5E7EB"/>
                </a:solidFill>
                <a:latin typeface="Consolas"/>
                <a:ea typeface="Consolas"/>
                <a:cs typeface="Consolas"/>
                <a:sym typeface="Consolas"/>
              </a:rPr>
              <a:t>  }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5E7EB"/>
              </a:buClr>
              <a:buSzPts val="1600"/>
              <a:buFont typeface="Consolas"/>
              <a:buNone/>
            </a:pPr>
            <a:r>
              <a:rPr b="0" i="0" lang="en-US" sz="1600" u="none" cap="none" strike="noStrike">
                <a:solidFill>
                  <a:srgbClr val="E5E7EB"/>
                </a:solidFill>
                <a:latin typeface="Consolas"/>
                <a:ea typeface="Consolas"/>
                <a:cs typeface="Consolas"/>
                <a:sym typeface="Consolas"/>
              </a:rPr>
              <a:t>  return s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5E7EB"/>
              </a:buClr>
              <a:buSzPts val="1600"/>
              <a:buFont typeface="Consolas"/>
              <a:buNone/>
            </a:pPr>
            <a:r>
              <a:rPr b="0" i="0" lang="en-US" sz="1600" u="none" cap="none" strike="noStrike">
                <a:solidFill>
                  <a:srgbClr val="E5E7EB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12"/>
          <p:cNvSpPr/>
          <p:nvPr/>
        </p:nvSpPr>
        <p:spPr>
          <a:xfrm>
            <a:off x="822960" y="4251960"/>
            <a:ext cx="5577840" cy="1280160"/>
          </a:xfrm>
          <a:prstGeom prst="roundRect">
            <a:avLst>
              <a:gd fmla="val 16667" name="adj"/>
            </a:avLst>
          </a:prstGeom>
          <a:solidFill>
            <a:srgbClr val="E3F2FD"/>
          </a:solidFill>
          <a:ln cap="flat" cmpd="sng" w="12700">
            <a:solidFill>
              <a:srgbClr val="BBDEF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9" name="Google Shape;219;p12"/>
          <p:cNvSpPr/>
          <p:nvPr/>
        </p:nvSpPr>
        <p:spPr>
          <a:xfrm>
            <a:off x="1051560" y="4434840"/>
            <a:ext cx="512064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2000"/>
              <a:buFont typeface="Meiryo"/>
              <a:buNone/>
            </a:pPr>
            <a:r>
              <a:rPr b="1" i="0" lang="en-US" sz="2000" u="none" cap="none" strike="noStrike">
                <a:solidFill>
                  <a:srgbClr val="111827"/>
                </a:solidFill>
                <a:latin typeface="Meiryo"/>
                <a:ea typeface="Meiryo"/>
                <a:cs typeface="Meiryo"/>
                <a:sym typeface="Meiryo"/>
              </a:rPr>
              <a:t>ソース構成も王道で読みやすい：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2000"/>
              <a:buFont typeface="Meiryo"/>
              <a:buNone/>
            </a:pPr>
            <a:r>
              <a:rPr b="1" i="0" lang="en-US" sz="2000" u="none" cap="none" strike="noStrike">
                <a:solidFill>
                  <a:srgbClr val="111827"/>
                </a:solidFill>
                <a:latin typeface="Meiryo"/>
                <a:ea typeface="Meiryo"/>
                <a:cs typeface="Meiryo"/>
                <a:sym typeface="Meiryo"/>
              </a:rPr>
              <a:t>lexer / parser / east / macro / types / interpreter / cli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20" name="Google Shape;220;p12"/>
          <p:cNvCxnSpPr/>
          <p:nvPr/>
        </p:nvCxnSpPr>
        <p:spPr>
          <a:xfrm>
            <a:off x="548640" y="6355080"/>
            <a:ext cx="11094415" cy="0"/>
          </a:xfrm>
          <a:prstGeom prst="straightConnector1">
            <a:avLst/>
          </a:prstGeom>
          <a:noFill/>
          <a:ln cap="flat" cmpd="sng" w="12700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21" name="Google Shape;221;p12"/>
          <p:cNvSpPr/>
          <p:nvPr/>
        </p:nvSpPr>
        <p:spPr>
          <a:xfrm>
            <a:off x="548640" y="6446520"/>
            <a:ext cx="11094415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1400"/>
              <a:buFont typeface="Meiryo"/>
              <a:buNone/>
            </a:pPr>
            <a:r>
              <a:rPr b="0" i="0" lang="en-US" sz="1400" u="none" cap="none" strike="noStrike">
                <a:solidFill>
                  <a:srgbClr val="4B5563"/>
                </a:solidFill>
                <a:latin typeface="Meiryo"/>
                <a:ea typeface="Meiryo"/>
                <a:cs typeface="Meiryo"/>
                <a:sym typeface="Meiryo"/>
              </a:rPr>
              <a:t>TreeP / 10 slides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13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0D47A1"/>
          </a:solidFill>
          <a:ln cap="flat" cmpd="sng" w="12700">
            <a:solidFill>
              <a:srgbClr val="0D47A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8" name="Google Shape;228;p13"/>
          <p:cNvSpPr/>
          <p:nvPr/>
        </p:nvSpPr>
        <p:spPr>
          <a:xfrm>
            <a:off x="548640" y="109728"/>
            <a:ext cx="10362895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Meiryo"/>
              <a:buNone/>
            </a:pPr>
            <a:r>
              <a:rPr b="1" i="0" lang="en-US" sz="2400" u="none" cap="none" strike="noStrike">
                <a:solidFill>
                  <a:srgbClr val="FFFFFF"/>
                </a:solidFill>
                <a:latin typeface="Meiryo"/>
                <a:ea typeface="Meiryo"/>
                <a:cs typeface="Meiryo"/>
                <a:sym typeface="Meiryo"/>
              </a:rPr>
              <a:t>まとめ：TreePは“言語づくりの教材”にもなる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13"/>
          <p:cNvSpPr/>
          <p:nvPr/>
        </p:nvSpPr>
        <p:spPr>
          <a:xfrm>
            <a:off x="822960" y="960120"/>
            <a:ext cx="768096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3400"/>
              <a:buFont typeface="Meiryo"/>
              <a:buNone/>
            </a:pPr>
            <a:r>
              <a:rPr b="1" i="0" lang="en-US" sz="3400" u="none" cap="none" strike="noStrike">
                <a:solidFill>
                  <a:srgbClr val="111827"/>
                </a:solidFill>
                <a:latin typeface="Meiryo"/>
                <a:ea typeface="Meiryo"/>
                <a:cs typeface="Meiryo"/>
                <a:sym typeface="Meiryo"/>
              </a:rPr>
              <a:t>・EASTでマクロを簡単に</a:t>
            </a:r>
            <a:endParaRPr b="0" i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3400"/>
              <a:buFont typeface="Meiryo"/>
              <a:buNone/>
            </a:pPr>
            <a:r>
              <a:rPr b="1" i="0" lang="en-US" sz="3400" u="none" cap="none" strike="noStrike">
                <a:solidFill>
                  <a:srgbClr val="111827"/>
                </a:solidFill>
                <a:latin typeface="Meiryo"/>
                <a:ea typeface="Meiryo"/>
                <a:cs typeface="Meiryo"/>
                <a:sym typeface="Meiryo"/>
              </a:rPr>
              <a:t>・HM型推論で安全に</a:t>
            </a:r>
            <a:endParaRPr b="0" i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3400"/>
              <a:buFont typeface="Meiryo"/>
              <a:buNone/>
            </a:pPr>
            <a:r>
              <a:rPr b="1" i="0" lang="en-US" sz="3400" u="none" cap="none" strike="noStrike">
                <a:solidFill>
                  <a:srgbClr val="111827"/>
                </a:solidFill>
                <a:latin typeface="Meiryo"/>
                <a:ea typeface="Meiryo"/>
                <a:cs typeface="Meiryo"/>
                <a:sym typeface="Meiryo"/>
              </a:rPr>
              <a:t>・ブロック引数で気持ちよく</a:t>
            </a:r>
            <a:endParaRPr b="0" i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13"/>
          <p:cNvSpPr/>
          <p:nvPr/>
        </p:nvSpPr>
        <p:spPr>
          <a:xfrm>
            <a:off x="822960" y="2514600"/>
            <a:ext cx="7680960" cy="2880360"/>
          </a:xfrm>
          <a:prstGeom prst="roundRect">
            <a:avLst>
              <a:gd fmla="val 16667" name="adj"/>
            </a:avLst>
          </a:prstGeom>
          <a:solidFill>
            <a:srgbClr val="E8F5E9"/>
          </a:solidFill>
          <a:ln cap="flat" cmpd="sng" w="12700">
            <a:solidFill>
              <a:srgbClr val="C8E6C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1" name="Google Shape;231;p13"/>
          <p:cNvSpPr/>
          <p:nvPr/>
        </p:nvSpPr>
        <p:spPr>
          <a:xfrm>
            <a:off x="1051560" y="2743200"/>
            <a:ext cx="73152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2400"/>
              <a:buFont typeface="Meiryo"/>
              <a:buNone/>
            </a:pPr>
            <a:r>
              <a:rPr b="1" i="0" lang="en-US" sz="2400" u="none" cap="none" strike="noStrike">
                <a:solidFill>
                  <a:srgbClr val="111827"/>
                </a:solidFill>
                <a:latin typeface="Meiryo"/>
                <a:ea typeface="Meiryo"/>
                <a:cs typeface="Meiryo"/>
                <a:sym typeface="Meiryo"/>
              </a:rPr>
              <a:t>AIペアプロの学び（雑に言うと）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13"/>
          <p:cNvSpPr/>
          <p:nvPr/>
        </p:nvSpPr>
        <p:spPr>
          <a:xfrm>
            <a:off x="1097280" y="3200400"/>
            <a:ext cx="7223760" cy="1645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55600" lvl="0" marL="35560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2200"/>
              <a:buFont typeface="Meiryo"/>
              <a:buChar char="•"/>
            </a:pPr>
            <a:r>
              <a:rPr b="0" i="0" lang="en-US" sz="2200" u="none" cap="none" strike="noStrike">
                <a:solidFill>
                  <a:srgbClr val="111827"/>
                </a:solidFill>
                <a:latin typeface="Meiryo"/>
                <a:ea typeface="Meiryo"/>
                <a:cs typeface="Meiryo"/>
                <a:sym typeface="Meiryo"/>
              </a:rPr>
              <a:t>“用語さえ合ってれば”処理系は案外進む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55600" lvl="0" marL="35560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2200"/>
              <a:buFont typeface="Meiryo"/>
              <a:buChar char="•"/>
            </a:pPr>
            <a:r>
              <a:rPr b="0" i="0" lang="en-US" sz="2200" u="none" cap="none" strike="noStrike">
                <a:solidFill>
                  <a:srgbClr val="111827"/>
                </a:solidFill>
                <a:latin typeface="Meiryo"/>
                <a:ea typeface="Meiryo"/>
                <a:cs typeface="Meiryo"/>
                <a:sym typeface="Meiryo"/>
              </a:rPr>
              <a:t>骨格はAI、仕上げは人間（or別AI）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55600" lvl="0" marL="35560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2200"/>
              <a:buFont typeface="Meiryo"/>
              <a:buChar char="•"/>
            </a:pPr>
            <a:r>
              <a:rPr b="0" i="0" lang="en-US" sz="2200" u="none" cap="none" strike="noStrike">
                <a:solidFill>
                  <a:srgbClr val="111827"/>
                </a:solidFill>
                <a:latin typeface="Meiryo"/>
                <a:ea typeface="Meiryo"/>
                <a:cs typeface="Meiryo"/>
                <a:sym typeface="Meiryo"/>
              </a:rPr>
              <a:t>テストもAIに投げると速度が上がる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13"/>
          <p:cNvSpPr/>
          <p:nvPr/>
        </p:nvSpPr>
        <p:spPr>
          <a:xfrm>
            <a:off x="1097280" y="4892040"/>
            <a:ext cx="72237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1800"/>
              <a:buFont typeface="Meiryo"/>
              <a:buNone/>
            </a:pPr>
            <a:r>
              <a:rPr b="0" i="1" lang="en-US" sz="1800" u="none" cap="none" strike="noStrike">
                <a:solidFill>
                  <a:srgbClr val="4B5563"/>
                </a:solidFill>
                <a:latin typeface="Meiryo"/>
                <a:ea typeface="Meiryo"/>
                <a:cs typeface="Meiryo"/>
                <a:sym typeface="Meiryo"/>
              </a:rPr>
              <a:t>（人間の仕事：意図の言語化、名前付け、境界を切る）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13"/>
          <p:cNvSpPr/>
          <p:nvPr/>
        </p:nvSpPr>
        <p:spPr>
          <a:xfrm>
            <a:off x="8823960" y="1005840"/>
            <a:ext cx="2788920" cy="4343400"/>
          </a:xfrm>
          <a:prstGeom prst="roundRect">
            <a:avLst>
              <a:gd fmla="val 16667" name="adj"/>
            </a:avLst>
          </a:prstGeom>
          <a:solidFill>
            <a:srgbClr val="E3F2FD"/>
          </a:solidFill>
          <a:ln cap="flat" cmpd="sng" w="12700">
            <a:solidFill>
              <a:srgbClr val="BBDEF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5" name="Google Shape;235;p13"/>
          <p:cNvSpPr/>
          <p:nvPr/>
        </p:nvSpPr>
        <p:spPr>
          <a:xfrm>
            <a:off x="8823960" y="1143000"/>
            <a:ext cx="27889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2600"/>
              <a:buFont typeface="Meiryo"/>
              <a:buNone/>
            </a:pPr>
            <a:r>
              <a:rPr b="1" i="0" lang="en-US" sz="2600" u="none" cap="none" strike="noStrike">
                <a:solidFill>
                  <a:srgbClr val="111827"/>
                </a:solidFill>
                <a:latin typeface="Meiryo"/>
                <a:ea typeface="Meiryo"/>
                <a:cs typeface="Meiryo"/>
                <a:sym typeface="Meiryo"/>
              </a:rPr>
              <a:t>Repo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mnt/data/treep_qr.png" id="236" name="Google Shape;236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098280" y="1691640"/>
            <a:ext cx="2240280" cy="2240280"/>
          </a:xfrm>
          <a:prstGeom prst="rect">
            <a:avLst/>
          </a:prstGeom>
          <a:noFill/>
          <a:ln>
            <a:noFill/>
          </a:ln>
        </p:spPr>
      </p:pic>
      <p:sp>
        <p:nvSpPr>
          <p:cNvPr id="237" name="Google Shape;237;p13"/>
          <p:cNvSpPr/>
          <p:nvPr/>
        </p:nvSpPr>
        <p:spPr>
          <a:xfrm>
            <a:off x="8915400" y="3931920"/>
            <a:ext cx="26517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1400"/>
              <a:buFont typeface="Consolas"/>
              <a:buNone/>
            </a:pPr>
            <a:r>
              <a:rPr b="0" i="0" lang="en-US" sz="1400" u="none" cap="none" strike="noStrike">
                <a:solidFill>
                  <a:srgbClr val="4B5563"/>
                </a:solidFill>
                <a:latin typeface="Consolas"/>
                <a:ea typeface="Consolas"/>
                <a:cs typeface="Consolas"/>
                <a:sym typeface="Consolas"/>
              </a:rPr>
              <a:t>github.com/kmizu/treep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13"/>
          <p:cNvSpPr/>
          <p:nvPr/>
        </p:nvSpPr>
        <p:spPr>
          <a:xfrm>
            <a:off x="8915400" y="4526280"/>
            <a:ext cx="265176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800"/>
              <a:buFont typeface="Meiryo"/>
              <a:buNone/>
            </a:pPr>
            <a:r>
              <a:rPr b="0" i="0" lang="en-US" sz="1800" u="none" cap="none" strike="noStrike">
                <a:solidFill>
                  <a:srgbClr val="111827"/>
                </a:solidFill>
                <a:latin typeface="Meiryo"/>
                <a:ea typeface="Meiryo"/>
                <a:cs typeface="Meiryo"/>
                <a:sym typeface="Meiryo"/>
              </a:rPr>
              <a:t>次回予告：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800"/>
              <a:buFont typeface="Meiryo"/>
              <a:buNone/>
            </a:pPr>
            <a:r>
              <a:rPr b="0" i="0" lang="en-US" sz="1800" u="none" cap="none" strike="noStrike">
                <a:solidFill>
                  <a:srgbClr val="111827"/>
                </a:solidFill>
                <a:latin typeface="Meiryo"/>
                <a:ea typeface="Meiryo"/>
                <a:cs typeface="Meiryo"/>
                <a:sym typeface="Meiryo"/>
              </a:rPr>
              <a:t>「TreePで自作DSL」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800"/>
              <a:buFont typeface="Meiryo"/>
              <a:buNone/>
            </a:pPr>
            <a:r>
              <a:rPr b="0" i="0" lang="en-US" sz="1800" u="none" cap="none" strike="noStrike">
                <a:solidFill>
                  <a:srgbClr val="111827"/>
                </a:solidFill>
                <a:latin typeface="Meiryo"/>
                <a:ea typeface="Meiryo"/>
                <a:cs typeface="Meiryo"/>
                <a:sym typeface="Meiryo"/>
              </a:rPr>
              <a:t>やると楽しい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13"/>
          <p:cNvSpPr/>
          <p:nvPr/>
        </p:nvSpPr>
        <p:spPr>
          <a:xfrm>
            <a:off x="822960" y="5806440"/>
            <a:ext cx="109728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47A1"/>
              </a:buClr>
              <a:buSzPts val="2600"/>
              <a:buFont typeface="Meiryo"/>
              <a:buNone/>
            </a:pPr>
            <a:r>
              <a:rPr b="1" i="0" lang="en-US" sz="2600" u="none" cap="none" strike="noStrike">
                <a:solidFill>
                  <a:srgbClr val="0D47A1"/>
                </a:solidFill>
                <a:latin typeface="Meiryo"/>
                <a:ea typeface="Meiryo"/>
                <a:cs typeface="Meiryo"/>
                <a:sym typeface="Meiryo"/>
              </a:rPr>
              <a:t>おしまい（型は裏切らん。たぶん）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40" name="Google Shape;240;p13"/>
          <p:cNvCxnSpPr/>
          <p:nvPr/>
        </p:nvCxnSpPr>
        <p:spPr>
          <a:xfrm>
            <a:off x="548640" y="6355080"/>
            <a:ext cx="11094415" cy="0"/>
          </a:xfrm>
          <a:prstGeom prst="straightConnector1">
            <a:avLst/>
          </a:prstGeom>
          <a:noFill/>
          <a:ln cap="flat" cmpd="sng" w="12700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41" name="Google Shape;241;p13"/>
          <p:cNvSpPr/>
          <p:nvPr/>
        </p:nvSpPr>
        <p:spPr>
          <a:xfrm>
            <a:off x="548640" y="6446520"/>
            <a:ext cx="11094415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1400"/>
              <a:buFont typeface="Meiryo"/>
              <a:buNone/>
            </a:pPr>
            <a:r>
              <a:rPr b="0" i="0" lang="en-US" sz="1400" u="none" cap="none" strike="noStrike">
                <a:solidFill>
                  <a:srgbClr val="4B5563"/>
                </a:solidFill>
                <a:latin typeface="Meiryo"/>
                <a:ea typeface="Meiryo"/>
                <a:cs typeface="Meiryo"/>
                <a:sym typeface="Meiryo"/>
              </a:rPr>
              <a:t>TreeP / 10 slides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